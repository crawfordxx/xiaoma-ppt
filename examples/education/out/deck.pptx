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我们的面试官人均每年参加 60 场面试</a:t>
            </a:r>
          </a:p>
          <a:p>
            <a:r>
              <a:t>· 非结构化面试的预测效度只有 0.38</a:t>
            </a:r>
          </a:p>
          <a:p>
            <a:r>
              <a:t>· 结构化面试的预测效度可以达到 0.51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好的面试，是把「我觉得」变成「我看到」。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拆解岗位：明确 3–5 项核心胜任力</a:t>
            </a:r>
          </a:p>
          <a:p>
            <a:r>
              <a:t>2. 设计问题：每项胜任力准备 2 道行为面试题</a:t>
            </a:r>
          </a:p>
          <a:p>
            <a:r>
              <a:t>3. 制定评分表：写清楚 1 分、3 分、5 分分别长什么样</a:t>
            </a:r>
          </a:p>
          <a:p>
            <a:r>
              <a:t>4. 分工对齐：多位面试官提前确认各自考察的维度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情境 Situation：当时是什么背景？</a:t>
            </a:r>
          </a:p>
          <a:p>
            <a:r>
              <a:t>· 任务 Task：你的职责和目标是什么？</a:t>
            </a:r>
          </a:p>
          <a:p>
            <a:r>
              <a:t>· 行动 Action：你具体做了什么？</a:t>
            </a:r>
          </a:p>
          <a:p>
            <a:r>
              <a:t>· 结果 Result：最后结果怎样，学到了什么？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引导性问题：「你应该很擅长沟通吧？」</a:t>
            </a:r>
          </a:p>
          <a:p>
            <a:r>
              <a:t>· 假设性问题：「如果你遇到……你会怎么做？」</a:t>
            </a:r>
          </a:p>
          <a:p>
            <a:r>
              <a:t>· 隐私类问题：婚育、籍贯、宗教等与岗位无关的问题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独立打分：面试结束 30 分钟内各自填写评分表</a:t>
            </a:r>
          </a:p>
          <a:p>
            <a:r>
              <a:t>2. 校准讨论：分差超过 2 分的维度逐项讨论</a:t>
            </a:r>
          </a:p>
          <a:p>
            <a:r>
              <a:t>3. 形成结论：按录用标准给出通过、待定或不通过</a:t>
            </a:r>
          </a:p>
          <a:p>
            <a:r>
              <a:t>4. 反馈复盘：入职 6 个月后回看面试评分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面试官的每一个问题，都在替公司做一次投资决策。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4A2C1D"/>
                </a:solidFill>
                <a:latin typeface="微软雅黑"/>
                <a:ea typeface="微软雅黑"/>
              </a:rPr>
              <a:t>结构化面试官培训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启明教育 · 人才发展中心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A2C1D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841248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2762E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465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为什么要结构化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面试前准备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753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面试中提问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79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89703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面试后评估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0" y="1371600"/>
            <a:ext cx="4389120" cy="4389120"/>
          </a:xfrm>
          <a:prstGeom prst="ellipse">
            <a:avLst/>
          </a:prstGeom>
          <a:solidFill>
            <a:srgbClr val="FB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0" y="2103120"/>
            <a:ext cx="2926080" cy="292608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为什么要结构化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E6D3"/>
                </a:solidFill>
                <a:latin typeface="微软雅黑"/>
                <a:ea typeface="微软雅黑"/>
              </a:rPr>
              <a:t>这一章你会学到什么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一场面试的真实成本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777240" y="591616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预测效度：Schmidt &amp; Hunter (1998), Psychological Bulletin 124(2)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777240" y="2178812"/>
            <a:ext cx="339852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60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场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77724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777240" y="3895852"/>
            <a:ext cx="3352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面试官人均每年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777240" y="4490212"/>
            <a:ext cx="335280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参加的面试场次（内部数据）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4587240" y="2178812"/>
            <a:ext cx="31242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0.38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458724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xm TextBox 20"/>
          <p:cNvSpPr txBox="1"/>
          <p:nvPr/>
        </p:nvSpPr>
        <p:spPr>
          <a:xfrm>
            <a:off x="4587240" y="3895852"/>
            <a:ext cx="3078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非结构化面试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4587240" y="4490212"/>
            <a:ext cx="307848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预测效度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4312920" y="2315972"/>
            <a:ext cx="0" cy="2820416"/>
          </a:xfrm>
          <a:prstGeom prst="line">
            <a:avLst/>
          </a:prstGeom>
          <a:ln w="9525">
            <a:solidFill>
              <a:srgbClr val="E7D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xm TextBox 23"/>
          <p:cNvSpPr txBox="1"/>
          <p:nvPr/>
        </p:nvSpPr>
        <p:spPr>
          <a:xfrm>
            <a:off x="8122920" y="2178812"/>
            <a:ext cx="31242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0.51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cxnSp>
        <p:nvCxnSpPr>
          <p:cNvPr id="25" name="xm Connector 24"/>
          <p:cNvCxnSpPr/>
          <p:nvPr/>
        </p:nvCxnSpPr>
        <p:spPr>
          <a:xfrm>
            <a:off x="812292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xm TextBox 25"/>
          <p:cNvSpPr txBox="1"/>
          <p:nvPr/>
        </p:nvSpPr>
        <p:spPr>
          <a:xfrm>
            <a:off x="8122920" y="3895852"/>
            <a:ext cx="3078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结构化面试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122920" y="4490212"/>
            <a:ext cx="307848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预测效度</a:t>
            </a:r>
          </a:p>
        </p:txBody>
      </p:sp>
      <p:cxnSp>
        <p:nvCxnSpPr>
          <p:cNvPr id="28" name="xm Connector 27"/>
          <p:cNvCxnSpPr/>
          <p:nvPr/>
        </p:nvCxnSpPr>
        <p:spPr>
          <a:xfrm>
            <a:off x="7848600" y="2315972"/>
            <a:ext cx="0" cy="2820416"/>
          </a:xfrm>
          <a:prstGeom prst="line">
            <a:avLst/>
          </a:prstGeom>
          <a:ln w="9525">
            <a:solidFill>
              <a:srgbClr val="E7D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凭感觉面试 vs 结构化面试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1817883"/>
            <a:ext cx="4892040" cy="294791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1817883"/>
            <a:ext cx="4892040" cy="790338"/>
          </a:xfrm>
          <a:prstGeom prst="rect">
            <a:avLst/>
          </a:prstGeom>
          <a:solidFill>
            <a:srgbClr val="E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凭感觉</a:t>
            </a:r>
          </a:p>
        </p:txBody>
      </p:sp>
      <p:pic>
        <p:nvPicPr>
          <p:cNvPr id="16" name="xm Picture 15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845965"/>
            <a:ext cx="335894" cy="335894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1524614" y="2791101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问题临场发挥，每个候选人不一样</a:t>
            </a:r>
          </a:p>
        </p:txBody>
      </p:sp>
      <p:pic>
        <p:nvPicPr>
          <p:cNvPr id="18" name="xm Picture 17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58477"/>
            <a:ext cx="335894" cy="33589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1524614" y="3403613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第一印象决定结论</a:t>
            </a:r>
          </a:p>
        </p:txBody>
      </p:sp>
      <p:pic>
        <p:nvPicPr>
          <p:cNvPr id="20" name="xm Picture 19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070989"/>
            <a:ext cx="335894" cy="33589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1524614" y="4016125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B8B83"/>
                </a:solidFill>
                <a:latin typeface="微软雅黑"/>
                <a:ea typeface="微软雅黑"/>
                <a:cs typeface="微软雅黑"/>
              </a:rPr>
              <a:t>面试官之间评分差异大</a:t>
            </a:r>
          </a:p>
        </p:txBody>
      </p:sp>
      <p:sp>
        <p:nvSpPr>
          <p:cNvPr id="22" name="xm Rectangle 21"/>
          <p:cNvSpPr/>
          <p:nvPr/>
        </p:nvSpPr>
        <p:spPr>
          <a:xfrm>
            <a:off x="6492240" y="1817883"/>
            <a:ext cx="4892040" cy="2947914"/>
          </a:xfrm>
          <a:prstGeom prst="rect">
            <a:avLst/>
          </a:prstGeom>
          <a:solidFill>
            <a:srgbClr val="FFFAF8"/>
          </a:solidFill>
          <a:ln w="19050">
            <a:solidFill>
              <a:srgbClr val="F27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Rectangle 22"/>
          <p:cNvSpPr/>
          <p:nvPr/>
        </p:nvSpPr>
        <p:spPr>
          <a:xfrm>
            <a:off x="6492240" y="1817883"/>
            <a:ext cx="4892040" cy="79033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结构化</a:t>
            </a:r>
          </a:p>
        </p:txBody>
      </p:sp>
      <p:pic>
        <p:nvPicPr>
          <p:cNvPr id="24" name="xm Picture 23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45965"/>
            <a:ext cx="335894" cy="335894"/>
          </a:xfrm>
          <a:prstGeom prst="rect">
            <a:avLst/>
          </a:prstGeom>
        </p:spPr>
      </p:pic>
      <p:sp>
        <p:nvSpPr>
          <p:cNvPr id="25" name="xm TextBox 24"/>
          <p:cNvSpPr txBox="1"/>
          <p:nvPr/>
        </p:nvSpPr>
        <p:spPr>
          <a:xfrm>
            <a:off x="7239614" y="2791101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同岗位同一套问题</a:t>
            </a:r>
          </a:p>
        </p:txBody>
      </p:sp>
      <p:pic>
        <p:nvPicPr>
          <p:cNvPr id="26" name="xm Picture 25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58477"/>
            <a:ext cx="335894" cy="335894"/>
          </a:xfrm>
          <a:prstGeom prst="rect">
            <a:avLst/>
          </a:prstGeom>
        </p:spPr>
      </p:pic>
      <p:sp>
        <p:nvSpPr>
          <p:cNvPr id="27" name="xm TextBox 26"/>
          <p:cNvSpPr txBox="1"/>
          <p:nvPr/>
        </p:nvSpPr>
        <p:spPr>
          <a:xfrm>
            <a:off x="7239614" y="3403613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按行为证据打分</a:t>
            </a:r>
          </a:p>
        </p:txBody>
      </p:sp>
      <p:pic>
        <p:nvPicPr>
          <p:cNvPr id="28" name="xm Picture 27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070989"/>
            <a:ext cx="335894" cy="335894"/>
          </a:xfrm>
          <a:prstGeom prst="rect">
            <a:avLst/>
          </a:prstGeom>
        </p:spPr>
      </p:pic>
      <p:sp>
        <p:nvSpPr>
          <p:cNvPr id="29" name="xm TextBox 28"/>
          <p:cNvSpPr txBox="1"/>
          <p:nvPr/>
        </p:nvSpPr>
        <p:spPr>
          <a:xfrm>
            <a:off x="7239614" y="4016125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评分标准提前统一</a:t>
            </a:r>
          </a:p>
        </p:txBody>
      </p:sp>
      <p:sp>
        <p:nvSpPr>
          <p:cNvPr id="30" name="xm Oval 29"/>
          <p:cNvSpPr/>
          <p:nvPr/>
        </p:nvSpPr>
        <p:spPr>
          <a:xfrm>
            <a:off x="5733288" y="2944368"/>
            <a:ext cx="694944" cy="694944"/>
          </a:xfrm>
          <a:prstGeom prst="ellipse">
            <a:avLst/>
          </a:prstGeom>
          <a:solidFill>
            <a:srgbClr val="4A2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6EB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  <p:sp>
        <p:nvSpPr>
          <p:cNvPr id="31" name="xm Rectangle 30"/>
          <p:cNvSpPr/>
          <p:nvPr/>
        </p:nvSpPr>
        <p:spPr>
          <a:xfrm>
            <a:off x="777240" y="5085837"/>
            <a:ext cx="10607040" cy="777240"/>
          </a:xfrm>
          <a:prstGeom prst="rect">
            <a:avLst/>
          </a:prstGeom>
          <a:gradFill rotWithShape="1">
            <a:gsLst>
              <a:gs pos="0">
                <a:srgbClr val="F2762E"/>
              </a:gs>
              <a:gs pos="100000">
                <a:srgbClr val="F7A67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19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好的面试，是把「我觉得」变成「我看到」。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面试前准备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E6D3"/>
                </a:solidFill>
                <a:latin typeface="微软雅黑"/>
                <a:ea typeface="微软雅黑"/>
              </a:rPr>
              <a:t>这一章你会学到什么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四步准备法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2000250" y="2546147"/>
            <a:ext cx="8161020" cy="0"/>
          </a:xfrm>
          <a:prstGeom prst="line">
            <a:avLst/>
          </a:prstGeom>
          <a:ln w="38100">
            <a:solidFill>
              <a:srgbClr val="F9C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Oval 14"/>
          <p:cNvSpPr/>
          <p:nvPr/>
        </p:nvSpPr>
        <p:spPr>
          <a:xfrm>
            <a:off x="155219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77724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105887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拆解岗位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05887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明确 3–5 项核心胜任力</a:t>
            </a:r>
          </a:p>
        </p:txBody>
      </p:sp>
      <p:sp>
        <p:nvSpPr>
          <p:cNvPr id="19" name="xm Oval 18"/>
          <p:cNvSpPr/>
          <p:nvPr/>
        </p:nvSpPr>
        <p:spPr>
          <a:xfrm>
            <a:off x="427253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349758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77921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设计问题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77921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每项胜任力准备 2 道行为面试题</a:t>
            </a:r>
          </a:p>
        </p:txBody>
      </p:sp>
      <p:sp>
        <p:nvSpPr>
          <p:cNvPr id="23" name="xm Oval 22"/>
          <p:cNvSpPr/>
          <p:nvPr/>
        </p:nvSpPr>
        <p:spPr>
          <a:xfrm>
            <a:off x="699287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TextBox 24"/>
          <p:cNvSpPr txBox="1"/>
          <p:nvPr/>
        </p:nvSpPr>
        <p:spPr>
          <a:xfrm>
            <a:off x="649955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制定评分表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649955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写清楚 1 分、3 分、5 分分别长什么样</a:t>
            </a:r>
          </a:p>
        </p:txBody>
      </p:sp>
      <p:sp>
        <p:nvSpPr>
          <p:cNvPr id="27" name="xm Oval 26"/>
          <p:cNvSpPr/>
          <p:nvPr/>
        </p:nvSpPr>
        <p:spPr>
          <a:xfrm>
            <a:off x="971321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xm Rectangle 27"/>
          <p:cNvSpPr/>
          <p:nvPr/>
        </p:nvSpPr>
        <p:spPr>
          <a:xfrm>
            <a:off x="893826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xm TextBox 28"/>
          <p:cNvSpPr txBox="1"/>
          <p:nvPr/>
        </p:nvSpPr>
        <p:spPr>
          <a:xfrm>
            <a:off x="921989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分工对齐</a:t>
            </a:r>
          </a:p>
        </p:txBody>
      </p:sp>
      <p:sp>
        <p:nvSpPr>
          <p:cNvPr id="30" name="xm TextBox 29"/>
          <p:cNvSpPr txBox="1"/>
          <p:nvPr/>
        </p:nvSpPr>
        <p:spPr>
          <a:xfrm>
            <a:off x="921989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多位面试官提前确认各自考察的维度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面试中提问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E6D3"/>
                </a:solidFill>
                <a:latin typeface="微软雅黑"/>
                <a:ea typeface="微软雅黑"/>
              </a:rPr>
              <a:t>这一章你会学到什么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STAR 追问法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116128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116128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情境 Situation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16128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当时是什么背景？</a:t>
            </a:r>
          </a:p>
        </p:txBody>
      </p:sp>
      <p:sp>
        <p:nvSpPr>
          <p:cNvPr id="19" name="xm Rectangle 18"/>
          <p:cNvSpPr/>
          <p:nvPr/>
        </p:nvSpPr>
        <p:spPr>
          <a:xfrm>
            <a:off x="349758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Rectangle 19"/>
          <p:cNvSpPr/>
          <p:nvPr/>
        </p:nvSpPr>
        <p:spPr>
          <a:xfrm>
            <a:off x="349758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88162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88162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任务 Task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388162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你的职责和目标是什么？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Rectangle 24"/>
          <p:cNvSpPr/>
          <p:nvPr/>
        </p:nvSpPr>
        <p:spPr>
          <a:xfrm>
            <a:off x="621792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660196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60196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行动 Action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660196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你具体做了什么？</a:t>
            </a:r>
          </a:p>
        </p:txBody>
      </p:sp>
      <p:sp>
        <p:nvSpPr>
          <p:cNvPr id="29" name="xm Rectangle 28"/>
          <p:cNvSpPr/>
          <p:nvPr/>
        </p:nvSpPr>
        <p:spPr>
          <a:xfrm>
            <a:off x="893826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xm Rectangle 29"/>
          <p:cNvSpPr/>
          <p:nvPr/>
        </p:nvSpPr>
        <p:spPr>
          <a:xfrm>
            <a:off x="893826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xm TextBox 30"/>
          <p:cNvSpPr txBox="1"/>
          <p:nvPr/>
        </p:nvSpPr>
        <p:spPr>
          <a:xfrm>
            <a:off x="932230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xm TextBox 31"/>
          <p:cNvSpPr txBox="1"/>
          <p:nvPr/>
        </p:nvSpPr>
        <p:spPr>
          <a:xfrm>
            <a:off x="932230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结果 Result</a:t>
            </a:r>
          </a:p>
        </p:txBody>
      </p:sp>
      <p:sp>
        <p:nvSpPr>
          <p:cNvPr id="33" name="xm TextBox 32"/>
          <p:cNvSpPr txBox="1"/>
          <p:nvPr/>
        </p:nvSpPr>
        <p:spPr>
          <a:xfrm>
            <a:off x="932230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最后结果怎样，学到了什么？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三类要避开的问题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Oval 15"/>
          <p:cNvSpPr/>
          <p:nvPr/>
        </p:nvSpPr>
        <p:spPr>
          <a:xfrm>
            <a:off x="116128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xm Picture 16" descr="triangle-alert-4A2C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776" y="2849258"/>
            <a:ext cx="412724" cy="412724"/>
          </a:xfrm>
          <a:prstGeom prst="rect">
            <a:avLst/>
          </a:prstGeom>
        </p:spPr>
      </p:pic>
      <p:sp>
        <p:nvSpPr>
          <p:cNvPr id="18" name="xm TextBox 17"/>
          <p:cNvSpPr txBox="1"/>
          <p:nvPr/>
        </p:nvSpPr>
        <p:spPr>
          <a:xfrm>
            <a:off x="116128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引导性问题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116128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「你应该很擅长沟通吧？」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440436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Rectangle 20"/>
          <p:cNvSpPr/>
          <p:nvPr/>
        </p:nvSpPr>
        <p:spPr>
          <a:xfrm>
            <a:off x="440436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Oval 21"/>
          <p:cNvSpPr/>
          <p:nvPr/>
        </p:nvSpPr>
        <p:spPr>
          <a:xfrm>
            <a:off x="478840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xm Picture 22" descr="triangle-alert-4A2C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96" y="2849258"/>
            <a:ext cx="412724" cy="412724"/>
          </a:xfrm>
          <a:prstGeom prst="rect">
            <a:avLst/>
          </a:prstGeom>
        </p:spPr>
      </p:pic>
      <p:sp>
        <p:nvSpPr>
          <p:cNvPr id="24" name="xm TextBox 23"/>
          <p:cNvSpPr txBox="1"/>
          <p:nvPr/>
        </p:nvSpPr>
        <p:spPr>
          <a:xfrm>
            <a:off x="478840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假设性问题</a:t>
            </a:r>
          </a:p>
        </p:txBody>
      </p:sp>
      <p:sp>
        <p:nvSpPr>
          <p:cNvPr id="25" name="xm TextBox 24"/>
          <p:cNvSpPr txBox="1"/>
          <p:nvPr/>
        </p:nvSpPr>
        <p:spPr>
          <a:xfrm>
            <a:off x="478840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「如果你遇到……你会怎么做？」</a:t>
            </a:r>
          </a:p>
        </p:txBody>
      </p:sp>
      <p:sp>
        <p:nvSpPr>
          <p:cNvPr id="26" name="xm Rectangle 25"/>
          <p:cNvSpPr/>
          <p:nvPr/>
        </p:nvSpPr>
        <p:spPr>
          <a:xfrm>
            <a:off x="803148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xm Rectangle 26"/>
          <p:cNvSpPr/>
          <p:nvPr/>
        </p:nvSpPr>
        <p:spPr>
          <a:xfrm>
            <a:off x="803148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xm Oval 27"/>
          <p:cNvSpPr/>
          <p:nvPr/>
        </p:nvSpPr>
        <p:spPr>
          <a:xfrm>
            <a:off x="841552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xm Picture 28" descr="shield-check-4A2C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016" y="2849258"/>
            <a:ext cx="412724" cy="412724"/>
          </a:xfrm>
          <a:prstGeom prst="rect">
            <a:avLst/>
          </a:prstGeom>
        </p:spPr>
      </p:pic>
      <p:sp>
        <p:nvSpPr>
          <p:cNvPr id="30" name="xm TextBox 29"/>
          <p:cNvSpPr txBox="1"/>
          <p:nvPr/>
        </p:nvSpPr>
        <p:spPr>
          <a:xfrm>
            <a:off x="841552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隐私类问题</a:t>
            </a:r>
          </a:p>
        </p:txBody>
      </p:sp>
      <p:sp>
        <p:nvSpPr>
          <p:cNvPr id="31" name="xm TextBox 30"/>
          <p:cNvSpPr txBox="1"/>
          <p:nvPr/>
        </p:nvSpPr>
        <p:spPr>
          <a:xfrm>
            <a:off x="841552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婚育、籍贯、宗教等与岗位无关的问题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面试后评估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E6D3"/>
                </a:solidFill>
                <a:latin typeface="微软雅黑"/>
                <a:ea typeface="微软雅黑"/>
              </a:rPr>
              <a:t>这一章你会学到什么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评分与决策流程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2000250" y="2546147"/>
            <a:ext cx="8161020" cy="0"/>
          </a:xfrm>
          <a:prstGeom prst="line">
            <a:avLst/>
          </a:prstGeom>
          <a:ln w="38100">
            <a:solidFill>
              <a:srgbClr val="F9C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Oval 14"/>
          <p:cNvSpPr/>
          <p:nvPr/>
        </p:nvSpPr>
        <p:spPr>
          <a:xfrm>
            <a:off x="155219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77724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105887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独立打分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05887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面试结束 30 分钟内各自填写评分表</a:t>
            </a:r>
          </a:p>
        </p:txBody>
      </p:sp>
      <p:sp>
        <p:nvSpPr>
          <p:cNvPr id="19" name="xm Oval 18"/>
          <p:cNvSpPr/>
          <p:nvPr/>
        </p:nvSpPr>
        <p:spPr>
          <a:xfrm>
            <a:off x="427253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349758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77921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校准讨论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77921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分差超过 2 分的维度逐项讨论</a:t>
            </a:r>
          </a:p>
        </p:txBody>
      </p:sp>
      <p:sp>
        <p:nvSpPr>
          <p:cNvPr id="23" name="xm Oval 22"/>
          <p:cNvSpPr/>
          <p:nvPr/>
        </p:nvSpPr>
        <p:spPr>
          <a:xfrm>
            <a:off x="699287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TextBox 24"/>
          <p:cNvSpPr txBox="1"/>
          <p:nvPr/>
        </p:nvSpPr>
        <p:spPr>
          <a:xfrm>
            <a:off x="649955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形成结论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649955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按录用标准给出通过、待定或不通过</a:t>
            </a:r>
          </a:p>
        </p:txBody>
      </p:sp>
      <p:sp>
        <p:nvSpPr>
          <p:cNvPr id="27" name="xm Oval 26"/>
          <p:cNvSpPr/>
          <p:nvPr/>
        </p:nvSpPr>
        <p:spPr>
          <a:xfrm>
            <a:off x="971321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xm Rectangle 27"/>
          <p:cNvSpPr/>
          <p:nvPr/>
        </p:nvSpPr>
        <p:spPr>
          <a:xfrm>
            <a:off x="893826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xm TextBox 28"/>
          <p:cNvSpPr txBox="1"/>
          <p:nvPr/>
        </p:nvSpPr>
        <p:spPr>
          <a:xfrm>
            <a:off x="921989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反馈复盘</a:t>
            </a:r>
          </a:p>
        </p:txBody>
      </p:sp>
      <p:sp>
        <p:nvSpPr>
          <p:cNvPr id="30" name="xm TextBox 29"/>
          <p:cNvSpPr txBox="1"/>
          <p:nvPr/>
        </p:nvSpPr>
        <p:spPr>
          <a:xfrm>
            <a:off x="921989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入职 6 个月后回看面试评分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面试后评估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508760" y="230632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691640" y="3357880"/>
            <a:ext cx="877824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面试官的每一个问题，都在替公司做一次投资决策。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A2C1D"/>
                </a:solidFill>
                <a:latin typeface="微软雅黑"/>
                <a:ea typeface="微软雅黑"/>
              </a:rPr>
              <a:t>下课啦，谢谢大家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2762E"/>
                </a:solidFill>
                <a:latin typeface="微软雅黑"/>
                <a:ea typeface="微软雅黑"/>
              </a:rPr>
              <a:t>课后作业见学习群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