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OEE（%）</c:v>
                </c:pt>
              </c:strCache>
            </c:strRef>
          </c:tx>
          <c:spPr>
            <a:ln w="34925">
              <a:solidFill>
                <a:srgbClr val="FF6B1A"/>
              </a:solidFill>
            </a:ln>
          </c:spPr>
          <c:marker>
            <c:spPr>
              <a:solidFill>
                <a:srgbClr val="FF6B1A"/>
              </a:solidFill>
              <a:ln>
                <a:solidFill>
                  <a:srgbClr val="F3F4F6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3月</c:v>
                </c:pt>
                <c:pt idx="2">
                  <c:v>5月</c:v>
                </c:pt>
                <c:pt idx="3">
                  <c:v>7月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68.0</c:v>
                </c:pt>
                <c:pt idx="1">
                  <c:v>71.0</c:v>
                </c:pt>
                <c:pt idx="2">
                  <c:v>75.0</c:v>
                </c:pt>
                <c:pt idx="3">
                  <c:v>78.0</c:v>
                </c:pt>
                <c:pt idx="4">
                  <c:v>80.0</c:v>
                </c:pt>
                <c:pt idx="5">
                  <c:v>82.0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1500" b="1">
                  <a:solidFill>
                    <a:srgbClr val="1E252B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9DC"/>
            </a:solidFill>
          </a:ln>
        </c:spPr>
        <c:txPr>
          <a:bodyPr/>
          <a:lstStyle/>
          <a:p>
            <a:pPr>
              <a:defRPr sz="1400">
                <a:solidFill>
                  <a:srgbClr val="464C51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6.9"/>
          <c:min val="51.2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83878A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00">
          <a:solidFill>
            <a:srgbClr val="464C51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OEE（%）</c:v>
                </c:pt>
              </c:strCache>
            </c:strRef>
          </c:tx>
          <c:spPr>
            <a:solidFill>
              <a:srgbClr val="FF6B1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熔炼车间</c:v>
                </c:pt>
                <c:pt idx="1">
                  <c:v>造型车间</c:v>
                </c:pt>
                <c:pt idx="2">
                  <c:v>机加车间</c:v>
                </c:pt>
                <c:pt idx="3">
                  <c:v>涂装车间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86.0</c:v>
                </c:pt>
                <c:pt idx="1">
                  <c:v>83.0</c:v>
                </c:pt>
                <c:pt idx="2">
                  <c:v>79.0</c:v>
                </c:pt>
                <c:pt idx="3">
                  <c:v>72.0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数据采集覆盖率（%）</c:v>
                </c:pt>
              </c:strCache>
            </c:strRef>
          </c:tx>
          <c:spPr>
            <a:solidFill>
              <a:srgbClr val="FF9F6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熔炼车间</c:v>
                </c:pt>
                <c:pt idx="1">
                  <c:v>造型车间</c:v>
                </c:pt>
                <c:pt idx="2">
                  <c:v>机加车间</c:v>
                </c:pt>
                <c:pt idx="3">
                  <c:v>涂装车间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98.0</c:v>
                </c:pt>
                <c:pt idx="1">
                  <c:v>95.0</c:v>
                </c:pt>
                <c:pt idx="2">
                  <c:v>88.0</c:v>
                </c:pt>
                <c:pt idx="3">
                  <c:v>76.0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500" b="1">
                  <a:solidFill>
                    <a:srgbClr val="1E25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9DC"/>
            </a:solidFill>
          </a:ln>
        </c:spPr>
        <c:txPr>
          <a:bodyPr/>
          <a:lstStyle/>
          <a:p>
            <a:pPr>
              <a:defRPr sz="1400">
                <a:solidFill>
                  <a:srgbClr val="464C5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83878A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400">
              <a:solidFill>
                <a:srgbClr val="464C51"/>
              </a:solidFill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464C51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设备综合效率 OEE 提升到 82%</a:t>
            </a:r>
          </a:p>
          <a:p>
            <a:r>
              <a:t>· 产品一次合格率 99.1%</a:t>
            </a:r>
          </a:p>
          <a:p>
            <a:r>
              <a:t>· 单位产值能耗下降 14%</a:t>
            </a:r>
          </a:p>
          <a:p>
            <a:r>
              <a:t>· 订单交付周期缩短 9 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月份｜OEE（%）</a:t>
            </a:r>
          </a:p>
          <a:p>
            <a:r>
              <a:t>1月｜68</a:t>
            </a:r>
          </a:p>
          <a:p>
            <a:r>
              <a:t>3月｜71</a:t>
            </a:r>
          </a:p>
          <a:p>
            <a:r>
              <a:t>5月｜75</a:t>
            </a:r>
          </a:p>
          <a:p>
            <a:r>
              <a:t>7月｜78</a:t>
            </a:r>
          </a:p>
          <a:p>
            <a:r>
              <a:t>9月｜80</a:t>
            </a:r>
          </a:p>
          <a:p>
            <a:r>
              <a:t>10月｜82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设备联网：412 台关键设备实时采集运行数据</a:t>
            </a:r>
          </a:p>
          <a:p>
            <a:r>
              <a:t>· 质量追溯：每个铸件绑定唯一码，工序数据可回溯</a:t>
            </a:r>
          </a:p>
          <a:p>
            <a:r>
              <a:t>· 能源管理：分车间、分设备计量，异常用能自动报警</a:t>
            </a:r>
          </a:p>
          <a:p>
            <a:r>
              <a:t>· 排产优化：APS 系统按订单优先级和产能自动排产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2025年11月：完成设备联网和数据中台</a:t>
            </a:r>
          </a:p>
          <a:p>
            <a:r>
              <a:t>· 2026年3月：质量追溯系统全厂上线</a:t>
            </a:r>
          </a:p>
          <a:p>
            <a:r>
              <a:t>· 2026年6月：能源管理平台投用</a:t>
            </a:r>
          </a:p>
          <a:p>
            <a:r>
              <a:t>· 2026年9月：APS 智能排产试运行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车间｜OEE（%）｜数据采集覆盖率（%）</a:t>
            </a:r>
          </a:p>
          <a:p>
            <a:r>
              <a:t>熔炼车间｜86｜98</a:t>
            </a:r>
          </a:p>
          <a:p>
            <a:r>
              <a:t>造型车间｜83｜95</a:t>
            </a:r>
          </a:p>
          <a:p>
            <a:r>
              <a:t>机加车间｜79｜88</a:t>
            </a:r>
          </a:p>
          <a:p>
            <a:r>
              <a:t>涂装车间｜72｜76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老旧设备：涂装线 30% 设备无法直接联网</a:t>
            </a:r>
          </a:p>
          <a:p>
            <a:r>
              <a:t>· 数据质量：人工补录数据占比仍有 12%</a:t>
            </a:r>
          </a:p>
          <a:p>
            <a:r>
              <a:t>· 人才缺口：懂工艺又懂数据的复合型人才不足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补齐短板：涂装线改造，数据采集覆盖率达到 95%</a:t>
            </a:r>
          </a:p>
          <a:p>
            <a:r>
              <a:t>2. 深化应用：上线预测性维护，非计划停机减少 30%</a:t>
            </a:r>
          </a:p>
          <a:p>
            <a:r>
              <a:t>3. 对外输出：形成集团标准，复制到两家兄弟工厂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精益是方法，数字化是工具，人始终是核心。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097280" cy="4572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0" y="6355080"/>
            <a:ext cx="26517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00" b="0">
                <a:solidFill>
                  <a:srgbClr val="9AA5B1"/>
                </a:solidFill>
                <a:latin typeface="微软雅黑"/>
                <a:ea typeface="微软雅黑"/>
              </a:rPr>
              <a:t>HUAZHU SMART MANUFACTURING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fg-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603503"/>
            <a:ext cx="219456" cy="219456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530352"/>
            <a:ext cx="21945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华铸智造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559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精益数字化工厂建设汇报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AA5B1"/>
                </a:solidFill>
                <a:latin typeface="微软雅黑"/>
                <a:ea typeface="微软雅黑"/>
              </a:rPr>
              <a:t>华铸智造 · 智能制造中心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251960"/>
            <a:ext cx="14630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5B1"/>
                </a:solidFill>
                <a:latin typeface="微软雅黑"/>
                <a:ea typeface="微软雅黑"/>
              </a:rPr>
              <a:t>2026-11-05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E2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274320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6B1A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868680"/>
            <a:ext cx="73152" cy="54864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886968"/>
            <a:ext cx="8229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200" b="1">
                <a:solidFill>
                  <a:srgbClr val="1E252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32688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E252B"/>
                </a:solidFill>
                <a:latin typeface="微软雅黑"/>
                <a:ea typeface="微软雅黑"/>
              </a:rPr>
              <a:t>建设成效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64792"/>
            <a:ext cx="73152" cy="54864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8229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200" b="1">
                <a:solidFill>
                  <a:srgbClr val="1E252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828800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E252B"/>
                </a:solidFill>
                <a:latin typeface="微软雅黑"/>
                <a:ea typeface="微软雅黑"/>
              </a:rPr>
              <a:t>做了哪些事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660904"/>
            <a:ext cx="73152" cy="54864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79192"/>
            <a:ext cx="8229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200" b="1">
                <a:solidFill>
                  <a:srgbClr val="1E252B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724912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E252B"/>
                </a:solidFill>
                <a:latin typeface="微软雅黑"/>
                <a:ea typeface="微软雅黑"/>
              </a:rPr>
              <a:t>问题与不足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3557015"/>
            <a:ext cx="73152" cy="54864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575303"/>
            <a:ext cx="8229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200" b="1">
                <a:solidFill>
                  <a:srgbClr val="1E252B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621023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E252B"/>
                </a:solidFill>
                <a:latin typeface="微软雅黑"/>
                <a:ea typeface="微软雅黑"/>
              </a:rPr>
              <a:t>2027 年计划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fg-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264920"/>
            <a:ext cx="3657600" cy="1935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0" b="1">
                <a:solidFill>
                  <a:srgbClr val="FF6B1A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  <a:ea typeface="微软雅黑"/>
              </a:rPr>
              <a:t>建设成效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5B1"/>
                </a:solidFill>
                <a:latin typeface="微软雅黑"/>
                <a:ea typeface="微软雅黑"/>
              </a:rPr>
              <a:t>SECTION SUBTITLE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400" b="1">
                <a:solidFill>
                  <a:srgbClr val="FF6B1A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292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一年下来的变化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84048"/>
            <a:ext cx="1645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9AA5B1"/>
                </a:solidFill>
                <a:latin typeface="微软雅黑"/>
                <a:ea typeface="微软雅黑"/>
              </a:rPr>
              <a:t>华铸智造</a:t>
            </a:r>
          </a:p>
        </p:txBody>
      </p:sp>
      <p:sp>
        <p:nvSpPr>
          <p:cNvPr id="5" name="xm TextBox 4"/>
          <p:cNvSpPr txBox="1"/>
          <p:nvPr/>
        </p:nvSpPr>
        <p:spPr>
          <a:xfrm>
            <a:off x="1143000" y="5934456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3878A"/>
                </a:solidFill>
                <a:latin typeface="微软雅黑"/>
                <a:ea typeface="微软雅黑"/>
                <a:cs typeface="微软雅黑"/>
              </a:rPr>
              <a:t>示例数据</a:t>
            </a:r>
          </a:p>
        </p:txBody>
      </p:sp>
      <p:sp>
        <p:nvSpPr>
          <p:cNvPr id="6" name="xm TextBox 5"/>
          <p:cNvSpPr txBox="1"/>
          <p:nvPr/>
        </p:nvSpPr>
        <p:spPr>
          <a:xfrm>
            <a:off x="1143000" y="2683700"/>
            <a:ext cx="2331720" cy="84137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53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82</a:t>
            </a:r>
            <a:r>
              <a:rPr sz="21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 %</a:t>
            </a:r>
          </a:p>
        </p:txBody>
      </p:sp>
      <p:cxnSp>
        <p:nvCxnSpPr>
          <p:cNvPr id="7" name="xm Connector 6"/>
          <p:cNvCxnSpPr/>
          <p:nvPr/>
        </p:nvCxnSpPr>
        <p:spPr>
          <a:xfrm>
            <a:off x="1143000" y="3662236"/>
            <a:ext cx="640080" cy="0"/>
          </a:xfrm>
          <a:prstGeom prst="line">
            <a:avLst/>
          </a:prstGeom>
          <a:ln w="38100">
            <a:solidFill>
              <a:srgbClr val="FF6B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xm TextBox 7"/>
          <p:cNvSpPr txBox="1"/>
          <p:nvPr/>
        </p:nvSpPr>
        <p:spPr>
          <a:xfrm>
            <a:off x="1143000" y="38451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设备综合效率 OEE</a:t>
            </a:r>
          </a:p>
        </p:txBody>
      </p:sp>
      <p:sp>
        <p:nvSpPr>
          <p:cNvPr id="9" name="xm TextBox 8"/>
          <p:cNvSpPr txBox="1"/>
          <p:nvPr/>
        </p:nvSpPr>
        <p:spPr>
          <a:xfrm>
            <a:off x="3886200" y="2683700"/>
            <a:ext cx="2057400" cy="84137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53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99.1</a:t>
            </a:r>
            <a:r>
              <a:rPr sz="21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 %</a:t>
            </a:r>
          </a:p>
        </p:txBody>
      </p:sp>
      <p:cxnSp>
        <p:nvCxnSpPr>
          <p:cNvPr id="10" name="xm Connector 9"/>
          <p:cNvCxnSpPr/>
          <p:nvPr/>
        </p:nvCxnSpPr>
        <p:spPr>
          <a:xfrm>
            <a:off x="3886200" y="3662236"/>
            <a:ext cx="640080" cy="0"/>
          </a:xfrm>
          <a:prstGeom prst="line">
            <a:avLst/>
          </a:prstGeom>
          <a:ln w="38100">
            <a:solidFill>
              <a:srgbClr val="FF6B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xm TextBox 10"/>
          <p:cNvSpPr txBox="1"/>
          <p:nvPr/>
        </p:nvSpPr>
        <p:spPr>
          <a:xfrm>
            <a:off x="3886200" y="384511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产品一次合格率</a:t>
            </a:r>
          </a:p>
        </p:txBody>
      </p:sp>
      <p:cxnSp>
        <p:nvCxnSpPr>
          <p:cNvPr id="12" name="xm Connector 11"/>
          <p:cNvCxnSpPr/>
          <p:nvPr/>
        </p:nvCxnSpPr>
        <p:spPr>
          <a:xfrm>
            <a:off x="3611880" y="2820860"/>
            <a:ext cx="0" cy="1481455"/>
          </a:xfrm>
          <a:prstGeom prst="line">
            <a:avLst/>
          </a:prstGeom>
          <a:ln w="9525">
            <a:solidFill>
              <a:srgbClr val="D7D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xm TextBox 12"/>
          <p:cNvSpPr txBox="1"/>
          <p:nvPr/>
        </p:nvSpPr>
        <p:spPr>
          <a:xfrm>
            <a:off x="6355080" y="2683700"/>
            <a:ext cx="2057400" cy="84137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53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14</a:t>
            </a:r>
            <a:r>
              <a:rPr sz="21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 %</a:t>
            </a:r>
          </a:p>
        </p:txBody>
      </p:sp>
      <p:cxnSp>
        <p:nvCxnSpPr>
          <p:cNvPr id="14" name="xm Connector 13"/>
          <p:cNvCxnSpPr/>
          <p:nvPr/>
        </p:nvCxnSpPr>
        <p:spPr>
          <a:xfrm>
            <a:off x="6355080" y="3662236"/>
            <a:ext cx="640080" cy="0"/>
          </a:xfrm>
          <a:prstGeom prst="line">
            <a:avLst/>
          </a:prstGeom>
          <a:ln w="38100">
            <a:solidFill>
              <a:srgbClr val="FF6B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xm TextBox 14"/>
          <p:cNvSpPr txBox="1"/>
          <p:nvPr/>
        </p:nvSpPr>
        <p:spPr>
          <a:xfrm>
            <a:off x="6355080" y="384511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单位产值能耗下降</a:t>
            </a:r>
          </a:p>
        </p:txBody>
      </p:sp>
      <p:cxnSp>
        <p:nvCxnSpPr>
          <p:cNvPr id="16" name="xm Connector 15"/>
          <p:cNvCxnSpPr/>
          <p:nvPr/>
        </p:nvCxnSpPr>
        <p:spPr>
          <a:xfrm>
            <a:off x="6080760" y="2820860"/>
            <a:ext cx="0" cy="1481455"/>
          </a:xfrm>
          <a:prstGeom prst="line">
            <a:avLst/>
          </a:prstGeom>
          <a:ln w="9525">
            <a:solidFill>
              <a:srgbClr val="D7D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xm TextBox 16"/>
          <p:cNvSpPr txBox="1"/>
          <p:nvPr/>
        </p:nvSpPr>
        <p:spPr>
          <a:xfrm>
            <a:off x="8823960" y="2683700"/>
            <a:ext cx="2057400" cy="84137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53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9</a:t>
            </a:r>
            <a:r>
              <a:rPr sz="21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 天</a:t>
            </a:r>
          </a:p>
        </p:txBody>
      </p:sp>
      <p:cxnSp>
        <p:nvCxnSpPr>
          <p:cNvPr id="18" name="xm Connector 17"/>
          <p:cNvCxnSpPr/>
          <p:nvPr/>
        </p:nvCxnSpPr>
        <p:spPr>
          <a:xfrm>
            <a:off x="8823960" y="3662236"/>
            <a:ext cx="640080" cy="0"/>
          </a:xfrm>
          <a:prstGeom prst="line">
            <a:avLst/>
          </a:prstGeom>
          <a:ln w="38100">
            <a:solidFill>
              <a:srgbClr val="FF6B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xm TextBox 18"/>
          <p:cNvSpPr txBox="1"/>
          <p:nvPr/>
        </p:nvSpPr>
        <p:spPr>
          <a:xfrm>
            <a:off x="8823960" y="384511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订单交付周期缩短</a:t>
            </a:r>
          </a:p>
        </p:txBody>
      </p:sp>
      <p:cxnSp>
        <p:nvCxnSpPr>
          <p:cNvPr id="20" name="xm Connector 19"/>
          <p:cNvCxnSpPr/>
          <p:nvPr/>
        </p:nvCxnSpPr>
        <p:spPr>
          <a:xfrm>
            <a:off x="8549640" y="2820860"/>
            <a:ext cx="0" cy="1481455"/>
          </a:xfrm>
          <a:prstGeom prst="line">
            <a:avLst/>
          </a:prstGeom>
          <a:ln w="9525">
            <a:solidFill>
              <a:srgbClr val="D7D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400" b="1">
                <a:solidFill>
                  <a:srgbClr val="FF6B1A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292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OEE 逐月提升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84048"/>
            <a:ext cx="1645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9AA5B1"/>
                </a:solidFill>
                <a:latin typeface="微软雅黑"/>
                <a:ea typeface="微软雅黑"/>
              </a:rPr>
              <a:t>华铸智造</a:t>
            </a:r>
          </a:p>
        </p:txBody>
      </p:sp>
      <p:sp>
        <p:nvSpPr>
          <p:cNvPr id="5" name="xm TextBox 4"/>
          <p:cNvSpPr txBox="1"/>
          <p:nvPr/>
        </p:nvSpPr>
        <p:spPr>
          <a:xfrm>
            <a:off x="1143000" y="5934456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3878A"/>
                </a:solidFill>
                <a:latin typeface="微软雅黑"/>
                <a:ea typeface="微软雅黑"/>
                <a:cs typeface="微软雅黑"/>
              </a:rPr>
              <a:t>示例数据</a:t>
            </a:r>
          </a:p>
        </p:txBody>
      </p:sp>
      <p:graphicFrame>
        <p:nvGraphicFramePr>
          <p:cNvPr id="6" name="xm Chart 5"/>
          <p:cNvGraphicFramePr>
            <a:graphicFrameLocks noGrp="1"/>
          </p:cNvGraphicFramePr>
          <p:nvPr/>
        </p:nvGraphicFramePr>
        <p:xfrm>
          <a:off x="1143000" y="1161288"/>
          <a:ext cx="6517843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xm Rectangle 6"/>
          <p:cNvSpPr/>
          <p:nvPr/>
        </p:nvSpPr>
        <p:spPr>
          <a:xfrm>
            <a:off x="8026603" y="1161288"/>
            <a:ext cx="2991917" cy="4663440"/>
          </a:xfrm>
          <a:prstGeom prst="rect">
            <a:avLst/>
          </a:prstGeom>
          <a:solidFill>
            <a:srgbClr val="F4E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xm TextBox 7"/>
          <p:cNvSpPr txBox="1"/>
          <p:nvPr/>
        </p:nvSpPr>
        <p:spPr>
          <a:xfrm>
            <a:off x="8346643" y="1481328"/>
            <a:ext cx="2351837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82</a:t>
            </a:r>
            <a:r>
              <a:rPr sz="18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 %</a:t>
            </a:r>
          </a:p>
        </p:txBody>
      </p:sp>
      <p:sp>
        <p:nvSpPr>
          <p:cNvPr id="9" name="xm TextBox 8"/>
          <p:cNvSpPr txBox="1"/>
          <p:nvPr/>
        </p:nvSpPr>
        <p:spPr>
          <a:xfrm>
            <a:off x="8346643" y="2441448"/>
            <a:ext cx="2351837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10 月 OEE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8346643" y="3218688"/>
            <a:ext cx="2351837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比年初提升 14 个百分点，熔炼车间最高达 86%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fg-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264920"/>
            <a:ext cx="3657600" cy="1935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0" b="1">
                <a:solidFill>
                  <a:srgbClr val="FF6B1A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  <a:ea typeface="微软雅黑"/>
              </a:rPr>
              <a:t>做了哪些事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5B1"/>
                </a:solidFill>
                <a:latin typeface="微软雅黑"/>
                <a:ea typeface="微软雅黑"/>
              </a:rPr>
              <a:t>SECTION SUBTITLE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400" b="1">
                <a:solidFill>
                  <a:srgbClr val="FF6B1A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292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四个建设模块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84048"/>
            <a:ext cx="1645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9AA5B1"/>
                </a:solidFill>
                <a:latin typeface="微软雅黑"/>
                <a:ea typeface="微软雅黑"/>
              </a:rPr>
              <a:t>华铸智造</a:t>
            </a:r>
          </a:p>
        </p:txBody>
      </p:sp>
      <p:sp>
        <p:nvSpPr>
          <p:cNvPr id="5" name="xm Rectangle 4"/>
          <p:cNvSpPr/>
          <p:nvPr/>
        </p:nvSpPr>
        <p:spPr>
          <a:xfrm>
            <a:off x="1143000" y="1736750"/>
            <a:ext cx="2263140" cy="3878275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xm Rectangle 5"/>
          <p:cNvSpPr/>
          <p:nvPr/>
        </p:nvSpPr>
        <p:spPr>
          <a:xfrm>
            <a:off x="1143000" y="1736750"/>
            <a:ext cx="2263140" cy="6400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xm Oval 6"/>
          <p:cNvSpPr/>
          <p:nvPr/>
        </p:nvSpPr>
        <p:spPr>
          <a:xfrm>
            <a:off x="1527048" y="2120798"/>
            <a:ext cx="793699" cy="793699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xm Picture 7" descr="zap-1E25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536" y="2311286"/>
            <a:ext cx="412724" cy="412724"/>
          </a:xfrm>
          <a:prstGeom prst="rect">
            <a:avLst/>
          </a:prstGeom>
        </p:spPr>
      </p:pic>
      <p:sp>
        <p:nvSpPr>
          <p:cNvPr id="9" name="xm TextBox 8"/>
          <p:cNvSpPr txBox="1"/>
          <p:nvPr/>
        </p:nvSpPr>
        <p:spPr>
          <a:xfrm>
            <a:off x="1527048" y="3097378"/>
            <a:ext cx="149504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设备联网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1527048" y="3646018"/>
            <a:ext cx="1495044" cy="17001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412 台关键设备实时采集运行数据</a:t>
            </a:r>
          </a:p>
        </p:txBody>
      </p:sp>
      <p:sp>
        <p:nvSpPr>
          <p:cNvPr id="11" name="xm Rectangle 10"/>
          <p:cNvSpPr/>
          <p:nvPr/>
        </p:nvSpPr>
        <p:spPr>
          <a:xfrm>
            <a:off x="3680460" y="1736750"/>
            <a:ext cx="2263140" cy="3878275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xm Rectangle 11"/>
          <p:cNvSpPr/>
          <p:nvPr/>
        </p:nvSpPr>
        <p:spPr>
          <a:xfrm>
            <a:off x="3680460" y="1736750"/>
            <a:ext cx="2263140" cy="6400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xm Oval 12"/>
          <p:cNvSpPr/>
          <p:nvPr/>
        </p:nvSpPr>
        <p:spPr>
          <a:xfrm>
            <a:off x="4064508" y="2120798"/>
            <a:ext cx="793699" cy="793699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xm Picture 13" descr="database-1E25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996" y="2311286"/>
            <a:ext cx="412724" cy="412724"/>
          </a:xfrm>
          <a:prstGeom prst="rect">
            <a:avLst/>
          </a:prstGeom>
        </p:spPr>
      </p:pic>
      <p:sp>
        <p:nvSpPr>
          <p:cNvPr id="15" name="xm TextBox 14"/>
          <p:cNvSpPr txBox="1"/>
          <p:nvPr/>
        </p:nvSpPr>
        <p:spPr>
          <a:xfrm>
            <a:off x="4064508" y="3097378"/>
            <a:ext cx="149504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质量追溯</a:t>
            </a:r>
          </a:p>
        </p:txBody>
      </p:sp>
      <p:sp>
        <p:nvSpPr>
          <p:cNvPr id="16" name="xm TextBox 15"/>
          <p:cNvSpPr txBox="1"/>
          <p:nvPr/>
        </p:nvSpPr>
        <p:spPr>
          <a:xfrm>
            <a:off x="4064508" y="3646018"/>
            <a:ext cx="1495044" cy="17001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每个铸件绑定唯一码，工序数据可回溯</a:t>
            </a:r>
          </a:p>
        </p:txBody>
      </p:sp>
      <p:sp>
        <p:nvSpPr>
          <p:cNvPr id="17" name="xm Rectangle 16"/>
          <p:cNvSpPr/>
          <p:nvPr/>
        </p:nvSpPr>
        <p:spPr>
          <a:xfrm>
            <a:off x="6217920" y="1736750"/>
            <a:ext cx="2263140" cy="3878275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xm Rectangle 17"/>
          <p:cNvSpPr/>
          <p:nvPr/>
        </p:nvSpPr>
        <p:spPr>
          <a:xfrm>
            <a:off x="6217920" y="1736750"/>
            <a:ext cx="2263140" cy="6400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xm Oval 18"/>
          <p:cNvSpPr/>
          <p:nvPr/>
        </p:nvSpPr>
        <p:spPr>
          <a:xfrm>
            <a:off x="6601968" y="2120798"/>
            <a:ext cx="793699" cy="793699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xm Picture 19" descr="factory-1E25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456" y="2311286"/>
            <a:ext cx="412724" cy="412724"/>
          </a:xfrm>
          <a:prstGeom prst="rect">
            <a:avLst/>
          </a:prstGeom>
        </p:spPr>
      </p:pic>
      <p:sp>
        <p:nvSpPr>
          <p:cNvPr id="21" name="xm TextBox 20"/>
          <p:cNvSpPr txBox="1"/>
          <p:nvPr/>
        </p:nvSpPr>
        <p:spPr>
          <a:xfrm>
            <a:off x="6601968" y="3097378"/>
            <a:ext cx="149504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能源管理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6601968" y="3646018"/>
            <a:ext cx="1495044" cy="17001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分车间、分设备计量，异常用能自动报警</a:t>
            </a:r>
          </a:p>
        </p:txBody>
      </p:sp>
      <p:sp>
        <p:nvSpPr>
          <p:cNvPr id="23" name="xm Rectangle 22"/>
          <p:cNvSpPr/>
          <p:nvPr/>
        </p:nvSpPr>
        <p:spPr>
          <a:xfrm>
            <a:off x="8755380" y="1736750"/>
            <a:ext cx="2263140" cy="3878275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xm Rectangle 23"/>
          <p:cNvSpPr/>
          <p:nvPr/>
        </p:nvSpPr>
        <p:spPr>
          <a:xfrm>
            <a:off x="8755380" y="1736750"/>
            <a:ext cx="2263140" cy="6400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xm Oval 24"/>
          <p:cNvSpPr/>
          <p:nvPr/>
        </p:nvSpPr>
        <p:spPr>
          <a:xfrm>
            <a:off x="9139428" y="2120798"/>
            <a:ext cx="793699" cy="793699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xm Picture 25" descr="gauge-1E25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9916" y="2311286"/>
            <a:ext cx="412724" cy="412724"/>
          </a:xfrm>
          <a:prstGeom prst="rect">
            <a:avLst/>
          </a:prstGeom>
        </p:spPr>
      </p:pic>
      <p:sp>
        <p:nvSpPr>
          <p:cNvPr id="27" name="xm TextBox 26"/>
          <p:cNvSpPr txBox="1"/>
          <p:nvPr/>
        </p:nvSpPr>
        <p:spPr>
          <a:xfrm>
            <a:off x="9139428" y="3097378"/>
            <a:ext cx="149504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排产优化</a:t>
            </a:r>
          </a:p>
        </p:txBody>
      </p:sp>
      <p:sp>
        <p:nvSpPr>
          <p:cNvPr id="28" name="xm TextBox 27"/>
          <p:cNvSpPr txBox="1"/>
          <p:nvPr/>
        </p:nvSpPr>
        <p:spPr>
          <a:xfrm>
            <a:off x="9139428" y="3646018"/>
            <a:ext cx="1495044" cy="17001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APS 系统按订单优先级和产能自动排产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400" b="1">
                <a:solidFill>
                  <a:srgbClr val="FF6B1A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292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建设历程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84048"/>
            <a:ext cx="1645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9AA5B1"/>
                </a:solidFill>
                <a:latin typeface="微软雅黑"/>
                <a:ea typeface="微软雅黑"/>
              </a:rPr>
              <a:t>华铸智造</a:t>
            </a:r>
          </a:p>
        </p:txBody>
      </p:sp>
      <p:cxnSp>
        <p:nvCxnSpPr>
          <p:cNvPr id="5" name="xm Connector 4"/>
          <p:cNvCxnSpPr/>
          <p:nvPr/>
        </p:nvCxnSpPr>
        <p:spPr>
          <a:xfrm>
            <a:off x="1143000" y="3634740"/>
            <a:ext cx="9875520" cy="0"/>
          </a:xfrm>
          <a:prstGeom prst="line">
            <a:avLst/>
          </a:prstGeom>
          <a:ln w="38100">
            <a:solidFill>
              <a:srgbClr val="F8BD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xm Oval 5"/>
          <p:cNvSpPr/>
          <p:nvPr/>
        </p:nvSpPr>
        <p:spPr>
          <a:xfrm>
            <a:off x="1143000" y="3497580"/>
            <a:ext cx="274320" cy="274320"/>
          </a:xfrm>
          <a:prstGeom prst="ellipse">
            <a:avLst/>
          </a:prstGeom>
          <a:solidFill>
            <a:srgbClr val="F3F4F6"/>
          </a:solidFill>
          <a:ln w="1270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xm TextBox 6"/>
          <p:cNvSpPr txBox="1"/>
          <p:nvPr/>
        </p:nvSpPr>
        <p:spPr>
          <a:xfrm>
            <a:off x="1143000" y="2537460"/>
            <a:ext cx="2286000" cy="9601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2025年11月</a:t>
            </a:r>
          </a:p>
        </p:txBody>
      </p:sp>
      <p:sp>
        <p:nvSpPr>
          <p:cNvPr id="8" name="xm TextBox 7"/>
          <p:cNvSpPr txBox="1"/>
          <p:nvPr/>
        </p:nvSpPr>
        <p:spPr>
          <a:xfrm>
            <a:off x="1143000" y="4000500"/>
            <a:ext cx="2194560" cy="813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完成设备联网和数据中台</a:t>
            </a:r>
          </a:p>
        </p:txBody>
      </p:sp>
      <p:sp>
        <p:nvSpPr>
          <p:cNvPr id="9" name="xm Oval 8"/>
          <p:cNvSpPr/>
          <p:nvPr/>
        </p:nvSpPr>
        <p:spPr>
          <a:xfrm>
            <a:off x="3611880" y="3497580"/>
            <a:ext cx="274320" cy="274320"/>
          </a:xfrm>
          <a:prstGeom prst="ellipse">
            <a:avLst/>
          </a:prstGeom>
          <a:solidFill>
            <a:srgbClr val="F3F4F6"/>
          </a:solidFill>
          <a:ln w="1270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xm TextBox 9"/>
          <p:cNvSpPr txBox="1"/>
          <p:nvPr/>
        </p:nvSpPr>
        <p:spPr>
          <a:xfrm>
            <a:off x="3611880" y="2537460"/>
            <a:ext cx="2286000" cy="9601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2026年3月</a:t>
            </a:r>
          </a:p>
        </p:txBody>
      </p:sp>
      <p:sp>
        <p:nvSpPr>
          <p:cNvPr id="11" name="xm TextBox 10"/>
          <p:cNvSpPr txBox="1"/>
          <p:nvPr/>
        </p:nvSpPr>
        <p:spPr>
          <a:xfrm>
            <a:off x="3611880" y="4000500"/>
            <a:ext cx="2194560" cy="813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质量追溯系统全厂上线</a:t>
            </a:r>
          </a:p>
        </p:txBody>
      </p:sp>
      <p:sp>
        <p:nvSpPr>
          <p:cNvPr id="12" name="xm Oval 11"/>
          <p:cNvSpPr/>
          <p:nvPr/>
        </p:nvSpPr>
        <p:spPr>
          <a:xfrm>
            <a:off x="6080760" y="3497580"/>
            <a:ext cx="274320" cy="274320"/>
          </a:xfrm>
          <a:prstGeom prst="ellipse">
            <a:avLst/>
          </a:prstGeom>
          <a:solidFill>
            <a:srgbClr val="F3F4F6"/>
          </a:solidFill>
          <a:ln w="1270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xm TextBox 12"/>
          <p:cNvSpPr txBox="1"/>
          <p:nvPr/>
        </p:nvSpPr>
        <p:spPr>
          <a:xfrm>
            <a:off x="6080760" y="2537460"/>
            <a:ext cx="2286000" cy="9601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2026年6月</a:t>
            </a:r>
          </a:p>
        </p:txBody>
      </p:sp>
      <p:sp>
        <p:nvSpPr>
          <p:cNvPr id="14" name="xm TextBox 13"/>
          <p:cNvSpPr txBox="1"/>
          <p:nvPr/>
        </p:nvSpPr>
        <p:spPr>
          <a:xfrm>
            <a:off x="6080760" y="4000500"/>
            <a:ext cx="2194560" cy="813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能源管理平台投用</a:t>
            </a:r>
          </a:p>
        </p:txBody>
      </p:sp>
      <p:sp>
        <p:nvSpPr>
          <p:cNvPr id="15" name="xm Oval 14"/>
          <p:cNvSpPr/>
          <p:nvPr/>
        </p:nvSpPr>
        <p:spPr>
          <a:xfrm>
            <a:off x="8549640" y="3497580"/>
            <a:ext cx="274320" cy="274320"/>
          </a:xfrm>
          <a:prstGeom prst="ellipse">
            <a:avLst/>
          </a:prstGeom>
          <a:solidFill>
            <a:srgbClr val="FF6B1A"/>
          </a:solidFill>
          <a:ln w="1270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xm TextBox 15"/>
          <p:cNvSpPr txBox="1"/>
          <p:nvPr/>
        </p:nvSpPr>
        <p:spPr>
          <a:xfrm>
            <a:off x="8549640" y="2537460"/>
            <a:ext cx="2286000" cy="9601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9A4C22"/>
                </a:solidFill>
                <a:latin typeface="微软雅黑"/>
                <a:ea typeface="微软雅黑"/>
                <a:cs typeface="微软雅黑"/>
              </a:rPr>
              <a:t>2026年9月</a:t>
            </a:r>
          </a:p>
        </p:txBody>
      </p:sp>
      <p:sp>
        <p:nvSpPr>
          <p:cNvPr id="17" name="xm TextBox 16"/>
          <p:cNvSpPr txBox="1"/>
          <p:nvPr/>
        </p:nvSpPr>
        <p:spPr>
          <a:xfrm>
            <a:off x="8549640" y="4000500"/>
            <a:ext cx="2194560" cy="813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APS 智能排产试运行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fg-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264920"/>
            <a:ext cx="3657600" cy="1935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0" b="1">
                <a:solidFill>
                  <a:srgbClr val="FF6B1A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  <a:ea typeface="微软雅黑"/>
              </a:rPr>
              <a:t>问题与不足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5B1"/>
                </a:solidFill>
                <a:latin typeface="微软雅黑"/>
                <a:ea typeface="微软雅黑"/>
              </a:rPr>
              <a:t>SECTION SUBTITLE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400" b="1">
                <a:solidFill>
                  <a:srgbClr val="FF6B1A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292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各车间进度不均衡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84048"/>
            <a:ext cx="1645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9AA5B1"/>
                </a:solidFill>
                <a:latin typeface="微软雅黑"/>
                <a:ea typeface="微软雅黑"/>
              </a:rPr>
              <a:t>华铸智造</a:t>
            </a:r>
          </a:p>
        </p:txBody>
      </p:sp>
      <p:sp>
        <p:nvSpPr>
          <p:cNvPr id="5" name="xm TextBox 4"/>
          <p:cNvSpPr txBox="1"/>
          <p:nvPr/>
        </p:nvSpPr>
        <p:spPr>
          <a:xfrm>
            <a:off x="1143000" y="5934456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3878A"/>
                </a:solidFill>
                <a:latin typeface="微软雅黑"/>
                <a:ea typeface="微软雅黑"/>
                <a:cs typeface="微软雅黑"/>
              </a:rPr>
              <a:t>示例数据</a:t>
            </a:r>
          </a:p>
        </p:txBody>
      </p:sp>
      <p:sp>
        <p:nvSpPr>
          <p:cNvPr id="6" name="xm TextBox 5"/>
          <p:cNvSpPr txBox="1"/>
          <p:nvPr/>
        </p:nvSpPr>
        <p:spPr>
          <a:xfrm>
            <a:off x="1143000" y="1161288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涂装车间两项指标都垫底，是明年的改造重点</a:t>
            </a:r>
          </a:p>
        </p:txBody>
      </p:sp>
      <p:graphicFrame>
        <p:nvGraphicFramePr>
          <p:cNvPr id="7" name="xm Chart 6"/>
          <p:cNvGraphicFramePr>
            <a:graphicFrameLocks noGrp="1"/>
          </p:cNvGraphicFramePr>
          <p:nvPr/>
        </p:nvGraphicFramePr>
        <p:xfrm>
          <a:off x="1143000" y="1892808"/>
          <a:ext cx="98755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400" b="1">
                <a:solidFill>
                  <a:srgbClr val="FF6B1A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292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主要短板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84048"/>
            <a:ext cx="1645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9AA5B1"/>
                </a:solidFill>
                <a:latin typeface="微软雅黑"/>
                <a:ea typeface="微软雅黑"/>
              </a:rPr>
              <a:t>华铸智造</a:t>
            </a:r>
          </a:p>
        </p:txBody>
      </p:sp>
      <p:sp>
        <p:nvSpPr>
          <p:cNvPr id="5" name="xm Rectangle 4"/>
          <p:cNvSpPr/>
          <p:nvPr/>
        </p:nvSpPr>
        <p:spPr>
          <a:xfrm>
            <a:off x="1143000" y="2110130"/>
            <a:ext cx="3108960" cy="3131515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xm Rectangle 5"/>
          <p:cNvSpPr/>
          <p:nvPr/>
        </p:nvSpPr>
        <p:spPr>
          <a:xfrm>
            <a:off x="1143000" y="2110130"/>
            <a:ext cx="3108960" cy="6400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xm Oval 6"/>
          <p:cNvSpPr/>
          <p:nvPr/>
        </p:nvSpPr>
        <p:spPr>
          <a:xfrm>
            <a:off x="1527048" y="2494178"/>
            <a:ext cx="793699" cy="793699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xm Picture 7" descr="cpu-1E25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536" y="2684666"/>
            <a:ext cx="412724" cy="412724"/>
          </a:xfrm>
          <a:prstGeom prst="rect">
            <a:avLst/>
          </a:prstGeom>
        </p:spPr>
      </p:pic>
      <p:sp>
        <p:nvSpPr>
          <p:cNvPr id="9" name="xm TextBox 8"/>
          <p:cNvSpPr txBox="1"/>
          <p:nvPr/>
        </p:nvSpPr>
        <p:spPr>
          <a:xfrm>
            <a:off x="1527048" y="3470758"/>
            <a:ext cx="234086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老旧设备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1527048" y="4019398"/>
            <a:ext cx="2340864" cy="9534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涂装线 30% 设备无法直接联网</a:t>
            </a:r>
          </a:p>
        </p:txBody>
      </p:sp>
      <p:sp>
        <p:nvSpPr>
          <p:cNvPr id="11" name="xm Rectangle 10"/>
          <p:cNvSpPr/>
          <p:nvPr/>
        </p:nvSpPr>
        <p:spPr>
          <a:xfrm>
            <a:off x="4526280" y="2110130"/>
            <a:ext cx="3108960" cy="3131515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xm Rectangle 11"/>
          <p:cNvSpPr/>
          <p:nvPr/>
        </p:nvSpPr>
        <p:spPr>
          <a:xfrm>
            <a:off x="4526280" y="2110130"/>
            <a:ext cx="3108960" cy="6400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xm Oval 12"/>
          <p:cNvSpPr/>
          <p:nvPr/>
        </p:nvSpPr>
        <p:spPr>
          <a:xfrm>
            <a:off x="4910328" y="2494178"/>
            <a:ext cx="793699" cy="793699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xm Picture 13" descr="database-1E25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816" y="2684666"/>
            <a:ext cx="412724" cy="412724"/>
          </a:xfrm>
          <a:prstGeom prst="rect">
            <a:avLst/>
          </a:prstGeom>
        </p:spPr>
      </p:pic>
      <p:sp>
        <p:nvSpPr>
          <p:cNvPr id="15" name="xm TextBox 14"/>
          <p:cNvSpPr txBox="1"/>
          <p:nvPr/>
        </p:nvSpPr>
        <p:spPr>
          <a:xfrm>
            <a:off x="4910328" y="3470758"/>
            <a:ext cx="234086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数据质量</a:t>
            </a:r>
          </a:p>
        </p:txBody>
      </p:sp>
      <p:sp>
        <p:nvSpPr>
          <p:cNvPr id="16" name="xm TextBox 15"/>
          <p:cNvSpPr txBox="1"/>
          <p:nvPr/>
        </p:nvSpPr>
        <p:spPr>
          <a:xfrm>
            <a:off x="4910328" y="4019398"/>
            <a:ext cx="2340864" cy="9534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人工补录数据占比仍有 12%</a:t>
            </a:r>
          </a:p>
        </p:txBody>
      </p:sp>
      <p:sp>
        <p:nvSpPr>
          <p:cNvPr id="17" name="xm Rectangle 16"/>
          <p:cNvSpPr/>
          <p:nvPr/>
        </p:nvSpPr>
        <p:spPr>
          <a:xfrm>
            <a:off x="7909560" y="2110130"/>
            <a:ext cx="3108960" cy="3131515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xm Rectangle 17"/>
          <p:cNvSpPr/>
          <p:nvPr/>
        </p:nvSpPr>
        <p:spPr>
          <a:xfrm>
            <a:off x="7909560" y="2110130"/>
            <a:ext cx="3108960" cy="6400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xm Oval 18"/>
          <p:cNvSpPr/>
          <p:nvPr/>
        </p:nvSpPr>
        <p:spPr>
          <a:xfrm>
            <a:off x="8293608" y="2494178"/>
            <a:ext cx="793699" cy="793699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xm Picture 19" descr="database-1E25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4096" y="2684666"/>
            <a:ext cx="412724" cy="412724"/>
          </a:xfrm>
          <a:prstGeom prst="rect">
            <a:avLst/>
          </a:prstGeom>
        </p:spPr>
      </p:pic>
      <p:sp>
        <p:nvSpPr>
          <p:cNvPr id="21" name="xm TextBox 20"/>
          <p:cNvSpPr txBox="1"/>
          <p:nvPr/>
        </p:nvSpPr>
        <p:spPr>
          <a:xfrm>
            <a:off x="8293608" y="3470758"/>
            <a:ext cx="234086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人才缺口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8293608" y="4019398"/>
            <a:ext cx="2340864" cy="9534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懂工艺又懂数据的复合型人才不足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fg-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264920"/>
            <a:ext cx="3657600" cy="1935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0" b="1">
                <a:solidFill>
                  <a:srgbClr val="FF6B1A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  <a:ea typeface="微软雅黑"/>
              </a:rPr>
              <a:t>2027 年计划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5B1"/>
                </a:solidFill>
                <a:latin typeface="微软雅黑"/>
                <a:ea typeface="微软雅黑"/>
              </a:rPr>
              <a:t>SECTION SUBTITLE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400" b="1">
                <a:solidFill>
                  <a:srgbClr val="FF6B1A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292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三步走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84048"/>
            <a:ext cx="1645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9AA5B1"/>
                </a:solidFill>
                <a:latin typeface="微软雅黑"/>
                <a:ea typeface="微软雅黑"/>
              </a:rPr>
              <a:t>华铸智造</a:t>
            </a:r>
          </a:p>
        </p:txBody>
      </p:sp>
      <p:cxnSp>
        <p:nvCxnSpPr>
          <p:cNvPr id="5" name="xm Connector 4"/>
          <p:cNvCxnSpPr/>
          <p:nvPr/>
        </p:nvCxnSpPr>
        <p:spPr>
          <a:xfrm>
            <a:off x="2697480" y="2467280"/>
            <a:ext cx="6766560" cy="0"/>
          </a:xfrm>
          <a:prstGeom prst="line">
            <a:avLst/>
          </a:prstGeom>
          <a:ln w="38100">
            <a:solidFill>
              <a:srgbClr val="F8BD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xm Oval 5"/>
          <p:cNvSpPr/>
          <p:nvPr/>
        </p:nvSpPr>
        <p:spPr>
          <a:xfrm>
            <a:off x="2249424" y="2019224"/>
            <a:ext cx="896112" cy="896112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xm Rectangle 6"/>
          <p:cNvSpPr/>
          <p:nvPr/>
        </p:nvSpPr>
        <p:spPr>
          <a:xfrm>
            <a:off x="1143000" y="3235376"/>
            <a:ext cx="3108960" cy="2097176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xm TextBox 7"/>
          <p:cNvSpPr txBox="1"/>
          <p:nvPr/>
        </p:nvSpPr>
        <p:spPr>
          <a:xfrm>
            <a:off x="1424635" y="3517011"/>
            <a:ext cx="254569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补齐短板</a:t>
            </a:r>
          </a:p>
        </p:txBody>
      </p:sp>
      <p:sp>
        <p:nvSpPr>
          <p:cNvPr id="9" name="xm TextBox 8"/>
          <p:cNvSpPr txBox="1"/>
          <p:nvPr/>
        </p:nvSpPr>
        <p:spPr>
          <a:xfrm>
            <a:off x="1424635" y="4010787"/>
            <a:ext cx="2545690" cy="1058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涂装线改造，数据采集覆盖率达到 95%</a:t>
            </a:r>
          </a:p>
        </p:txBody>
      </p:sp>
      <p:sp>
        <p:nvSpPr>
          <p:cNvPr id="10" name="xm Oval 9"/>
          <p:cNvSpPr/>
          <p:nvPr/>
        </p:nvSpPr>
        <p:spPr>
          <a:xfrm>
            <a:off x="5632704" y="2019224"/>
            <a:ext cx="896112" cy="896112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xm Rectangle 10"/>
          <p:cNvSpPr/>
          <p:nvPr/>
        </p:nvSpPr>
        <p:spPr>
          <a:xfrm>
            <a:off x="4526280" y="3235376"/>
            <a:ext cx="3108960" cy="2097176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xm TextBox 11"/>
          <p:cNvSpPr txBox="1"/>
          <p:nvPr/>
        </p:nvSpPr>
        <p:spPr>
          <a:xfrm>
            <a:off x="4807915" y="3517011"/>
            <a:ext cx="254569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深化应用</a:t>
            </a:r>
          </a:p>
        </p:txBody>
      </p:sp>
      <p:sp>
        <p:nvSpPr>
          <p:cNvPr id="13" name="xm TextBox 12"/>
          <p:cNvSpPr txBox="1"/>
          <p:nvPr/>
        </p:nvSpPr>
        <p:spPr>
          <a:xfrm>
            <a:off x="4807915" y="4010787"/>
            <a:ext cx="2545690" cy="1058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上线预测性维护，非计划停机减少 30%</a:t>
            </a:r>
          </a:p>
        </p:txBody>
      </p:sp>
      <p:sp>
        <p:nvSpPr>
          <p:cNvPr id="14" name="xm Oval 13"/>
          <p:cNvSpPr/>
          <p:nvPr/>
        </p:nvSpPr>
        <p:spPr>
          <a:xfrm>
            <a:off x="9015984" y="2019224"/>
            <a:ext cx="896112" cy="896112"/>
          </a:xfrm>
          <a:prstGeom prst="ellipse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xm Rectangle 14"/>
          <p:cNvSpPr/>
          <p:nvPr/>
        </p:nvSpPr>
        <p:spPr>
          <a:xfrm>
            <a:off x="7909560" y="3235376"/>
            <a:ext cx="3108960" cy="2097176"/>
          </a:xfrm>
          <a:prstGeom prst="rect">
            <a:avLst/>
          </a:prstGeom>
          <a:solidFill>
            <a:srgbClr val="F3EFED"/>
          </a:solidFill>
          <a:ln>
            <a:noFill/>
          </a:ln>
          <a:effectLst>
            <a:outerShdw blurRad="203200" dist="38100" dir="5400000" algn="t" rotWithShape="0">
              <a:srgbClr val="80360D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xm TextBox 15"/>
          <p:cNvSpPr txBox="1"/>
          <p:nvPr/>
        </p:nvSpPr>
        <p:spPr>
          <a:xfrm>
            <a:off x="8191195" y="3517011"/>
            <a:ext cx="254569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1E252B"/>
                </a:solidFill>
                <a:latin typeface="微软雅黑"/>
                <a:ea typeface="微软雅黑"/>
                <a:cs typeface="微软雅黑"/>
              </a:rPr>
              <a:t>对外输出</a:t>
            </a:r>
          </a:p>
        </p:txBody>
      </p:sp>
      <p:sp>
        <p:nvSpPr>
          <p:cNvPr id="17" name="xm TextBox 16"/>
          <p:cNvSpPr txBox="1"/>
          <p:nvPr/>
        </p:nvSpPr>
        <p:spPr>
          <a:xfrm>
            <a:off x="8191195" y="4010787"/>
            <a:ext cx="2545690" cy="1058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64C51"/>
                </a:solidFill>
                <a:latin typeface="微软雅黑"/>
                <a:ea typeface="微软雅黑"/>
                <a:cs typeface="微软雅黑"/>
              </a:rPr>
              <a:t>形成集团标准，复制到两家兄弟工厂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fg-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74320"/>
            <a:ext cx="82296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400" b="1">
                <a:solidFill>
                  <a:srgbClr val="FF6B1A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292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2027 年计划</a:t>
            </a:r>
          </a:p>
        </p:txBody>
      </p:sp>
      <p:sp>
        <p:nvSpPr>
          <p:cNvPr id="5" name="xm TextBox 4"/>
          <p:cNvSpPr txBox="1"/>
          <p:nvPr/>
        </p:nvSpPr>
        <p:spPr>
          <a:xfrm>
            <a:off x="1143000" y="2233168"/>
            <a:ext cx="10972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0" b="1">
                <a:solidFill>
                  <a:srgbClr val="FF6B1A"/>
                </a:solidFill>
                <a:latin typeface="微软雅黑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xm TextBox 5"/>
          <p:cNvSpPr txBox="1"/>
          <p:nvPr/>
        </p:nvSpPr>
        <p:spPr>
          <a:xfrm>
            <a:off x="1325880" y="3284728"/>
            <a:ext cx="6217920" cy="1330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精益是方法，数字化是工具，人始终是核心。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fg-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603503"/>
            <a:ext cx="219456" cy="219456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530352"/>
            <a:ext cx="21945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华铸智造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7315200" cy="10972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6B1A"/>
                </a:solidFill>
                <a:latin typeface="微软雅黑"/>
                <a:ea typeface="微软雅黑"/>
              </a:rPr>
              <a:t>精益求精 · 智造未来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