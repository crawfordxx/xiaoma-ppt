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OEE（%）</c:v>
                </c:pt>
              </c:strCache>
            </c:strRef>
          </c:tx>
          <c:spPr>
            <a:ln w="34925">
              <a:solidFill>
                <a:srgbClr val="FF6B1A"/>
              </a:solidFill>
            </a:ln>
          </c:spPr>
          <c:marker>
            <c:spPr>
              <a:solidFill>
                <a:srgbClr val="FF6B1A"/>
              </a:solidFill>
              <a:ln>
                <a:solidFill>
                  <a:srgbClr val="F3F4F6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3月</c:v>
                </c:pt>
                <c:pt idx="2">
                  <c:v>5月</c:v>
                </c:pt>
                <c:pt idx="3">
                  <c:v>7月</c:v>
                </c:pt>
                <c:pt idx="4">
                  <c:v>9月</c:v>
                </c:pt>
                <c:pt idx="5">
                  <c:v>10月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68.0</c:v>
                </c:pt>
                <c:pt idx="1">
                  <c:v>71.0</c:v>
                </c:pt>
                <c:pt idx="2">
                  <c:v>75.0</c:v>
                </c:pt>
                <c:pt idx="3">
                  <c:v>78.0</c:v>
                </c:pt>
                <c:pt idx="4">
                  <c:v>80.0</c:v>
                </c:pt>
                <c:pt idx="5">
                  <c:v>82.0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E252B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9DC"/>
            </a:solidFill>
          </a:ln>
        </c:spPr>
        <c:txPr>
          <a:bodyPr/>
          <a:lstStyle/>
          <a:p>
            <a:pPr>
              <a:defRPr sz="1400">
                <a:solidFill>
                  <a:srgbClr val="464C51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6.9"/>
          <c:min val="51.2"/>
        </c:scaling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3878A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464C51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OEE（%）</c:v>
                </c:pt>
              </c:strCache>
            </c:strRef>
          </c:tx>
          <c:spPr>
            <a:solidFill>
              <a:srgbClr val="FF6B1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熔炼车间</c:v>
                </c:pt>
                <c:pt idx="1">
                  <c:v>造型车间</c:v>
                </c:pt>
                <c:pt idx="2">
                  <c:v>机加车间</c:v>
                </c:pt>
                <c:pt idx="3">
                  <c:v>涂装车间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86.0</c:v>
                </c:pt>
                <c:pt idx="1">
                  <c:v>83.0</c:v>
                </c:pt>
                <c:pt idx="2">
                  <c:v>79.0</c:v>
                </c:pt>
                <c:pt idx="3">
                  <c:v>72.0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数据采集覆盖率（%）</c:v>
                </c:pt>
              </c:strCache>
            </c:strRef>
          </c:tx>
          <c:spPr>
            <a:solidFill>
              <a:srgbClr val="FF9F6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熔炼车间</c:v>
                </c:pt>
                <c:pt idx="1">
                  <c:v>造型车间</c:v>
                </c:pt>
                <c:pt idx="2">
                  <c:v>机加车间</c:v>
                </c:pt>
                <c:pt idx="3">
                  <c:v>涂装车间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98.0</c:v>
                </c:pt>
                <c:pt idx="1">
                  <c:v>95.0</c:v>
                </c:pt>
                <c:pt idx="2">
                  <c:v>88.0</c:v>
                </c:pt>
                <c:pt idx="3">
                  <c:v>76.0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E25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7D9DC"/>
            </a:solidFill>
          </a:ln>
        </c:spPr>
        <c:txPr>
          <a:bodyPr/>
          <a:lstStyle/>
          <a:p>
            <a:pPr>
              <a:defRPr sz="1400">
                <a:solidFill>
                  <a:srgbClr val="464C5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3878A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64C51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64C51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设备综合效率 OEE 提升到 82%</a:t>
            </a:r>
          </a:p>
          <a:p>
            <a:r>
              <a:t>· 产品一次合格率 99.1%</a:t>
            </a:r>
          </a:p>
          <a:p>
            <a:r>
              <a:t>· 单位产值能耗下降 14%</a:t>
            </a:r>
          </a:p>
          <a:p>
            <a:r>
              <a:t>· 订单交付周期缩短 9 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月份｜OEE（%）</a:t>
            </a:r>
          </a:p>
          <a:p>
            <a:r>
              <a:t>1月｜68</a:t>
            </a:r>
          </a:p>
          <a:p>
            <a:r>
              <a:t>3月｜71</a:t>
            </a:r>
          </a:p>
          <a:p>
            <a:r>
              <a:t>5月｜75</a:t>
            </a:r>
          </a:p>
          <a:p>
            <a:r>
              <a:t>7月｜78</a:t>
            </a:r>
          </a:p>
          <a:p>
            <a:r>
              <a:t>9月｜80</a:t>
            </a:r>
          </a:p>
          <a:p>
            <a:r>
              <a:t>10月｜82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设备联网：412 台关键设备实时采集运行数据</a:t>
            </a:r>
          </a:p>
          <a:p>
            <a:r>
              <a:t>· 质量追溯：每个铸件绑定唯一码，工序数据可回溯</a:t>
            </a:r>
          </a:p>
          <a:p>
            <a:r>
              <a:t>· 能源管理：分车间、分设备计量，异常用能自动报警</a:t>
            </a:r>
          </a:p>
          <a:p>
            <a:r>
              <a:t>· 排产优化：APS 系统按订单优先级和产能自动排产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2025年11月：完成设备联网和数据中台</a:t>
            </a:r>
          </a:p>
          <a:p>
            <a:r>
              <a:t>· 2026年3月：质量追溯系统全厂上线</a:t>
            </a:r>
          </a:p>
          <a:p>
            <a:r>
              <a:t>· 2026年6月：能源管理平台投用</a:t>
            </a:r>
          </a:p>
          <a:p>
            <a:r>
              <a:t>· 2026年9月：APS 智能排产试运行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车间｜OEE（%）｜数据采集覆盖率（%）</a:t>
            </a:r>
          </a:p>
          <a:p>
            <a:r>
              <a:t>熔炼车间｜86｜98</a:t>
            </a:r>
          </a:p>
          <a:p>
            <a:r>
              <a:t>造型车间｜83｜95</a:t>
            </a:r>
          </a:p>
          <a:p>
            <a:r>
              <a:t>机加车间｜79｜88</a:t>
            </a:r>
          </a:p>
          <a:p>
            <a:r>
              <a:t>涂装车间｜72｜76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老旧设备：涂装线 30% 设备无法直接联网</a:t>
            </a:r>
          </a:p>
          <a:p>
            <a:r>
              <a:t>· 数据质量：人工补录数据占比仍有 12%</a:t>
            </a:r>
          </a:p>
          <a:p>
            <a:r>
              <a:t>· 人才缺口：懂工艺又懂数据的复合型人才不足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补齐短板：涂装线改造，数据采集覆盖率达到 95%</a:t>
            </a:r>
          </a:p>
          <a:p>
            <a:r>
              <a:t>2. 深化应用：上线预测性维护，非计划停机减少 30%</a:t>
            </a:r>
          </a:p>
          <a:p>
            <a:r>
              <a:t>3. 对外输出：形成集团标准，复制到两家兄弟工厂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精益是方法，数字化是工具，人始终是核心。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097280" cy="4572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6355080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0">
                <a:solidFill>
                  <a:srgbClr val="9AA5B1"/>
                </a:solidFill>
                <a:latin typeface="微软雅黑"/>
                <a:ea typeface="微软雅黑"/>
              </a:rPr>
              <a:t>HUAZHU SMART MANUFACTURING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603503"/>
            <a:ext cx="219456" cy="21945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" y="530352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7559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精益数字化工厂建设汇报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AA5B1"/>
                </a:solidFill>
                <a:latin typeface="微软雅黑"/>
                <a:ea typeface="微软雅黑"/>
              </a:rPr>
              <a:t>华铸智造 · 智能制造中心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51960"/>
            <a:ext cx="1463040" cy="73152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5B1"/>
                </a:solidFill>
                <a:latin typeface="微软雅黑"/>
                <a:ea typeface="微软雅黑"/>
              </a:rPr>
              <a:t>2026-11-05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E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6B1A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868680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886968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3268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建设成效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64792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8288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做了哪些事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60904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724912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问题与不足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557015"/>
            <a:ext cx="73152" cy="54864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575303"/>
            <a:ext cx="82296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1E252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621023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E252B"/>
                </a:solidFill>
                <a:latin typeface="微软雅黑"/>
                <a:ea typeface="微软雅黑"/>
              </a:rPr>
              <a:t>2027 年计划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建设成效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一年下来的变化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5934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3878A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1143000" y="2683700"/>
            <a:ext cx="233172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82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7" name="xm Connector 6"/>
          <p:cNvCxnSpPr/>
          <p:nvPr/>
        </p:nvCxnSpPr>
        <p:spPr>
          <a:xfrm>
            <a:off x="1143000" y="3662236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xm TextBox 7"/>
          <p:cNvSpPr txBox="1"/>
          <p:nvPr/>
        </p:nvSpPr>
        <p:spPr>
          <a:xfrm>
            <a:off x="1143000" y="384511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设备综合效率 OEE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3886200" y="2683700"/>
            <a:ext cx="205740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99.1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10" name="xm Connector 9"/>
          <p:cNvCxnSpPr/>
          <p:nvPr/>
        </p:nvCxnSpPr>
        <p:spPr>
          <a:xfrm>
            <a:off x="3886200" y="3662236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xm TextBox 10"/>
          <p:cNvSpPr txBox="1"/>
          <p:nvPr/>
        </p:nvSpPr>
        <p:spPr>
          <a:xfrm>
            <a:off x="3886200" y="384511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产品一次合格率</a:t>
            </a:r>
          </a:p>
        </p:txBody>
      </p:sp>
      <p:cxnSp>
        <p:nvCxnSpPr>
          <p:cNvPr id="12" name="xm Connector 11"/>
          <p:cNvCxnSpPr/>
          <p:nvPr/>
        </p:nvCxnSpPr>
        <p:spPr>
          <a:xfrm>
            <a:off x="3611880" y="2820860"/>
            <a:ext cx="0" cy="1481455"/>
          </a:xfrm>
          <a:prstGeom prst="line">
            <a:avLst/>
          </a:prstGeom>
          <a:ln w="9525">
            <a:solidFill>
              <a:srgbClr val="D7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xm TextBox 12"/>
          <p:cNvSpPr txBox="1"/>
          <p:nvPr/>
        </p:nvSpPr>
        <p:spPr>
          <a:xfrm>
            <a:off x="6355080" y="2683700"/>
            <a:ext cx="205740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14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6355080" y="3662236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TextBox 14"/>
          <p:cNvSpPr txBox="1"/>
          <p:nvPr/>
        </p:nvSpPr>
        <p:spPr>
          <a:xfrm>
            <a:off x="6355080" y="384511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单位产值能耗下降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6080760" y="2820860"/>
            <a:ext cx="0" cy="1481455"/>
          </a:xfrm>
          <a:prstGeom prst="line">
            <a:avLst/>
          </a:prstGeom>
          <a:ln w="9525">
            <a:solidFill>
              <a:srgbClr val="D7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8823960" y="2683700"/>
            <a:ext cx="2057400" cy="841375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53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2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天</a:t>
            </a:r>
          </a:p>
        </p:txBody>
      </p:sp>
      <p:cxnSp>
        <p:nvCxnSpPr>
          <p:cNvPr id="18" name="xm Connector 17"/>
          <p:cNvCxnSpPr/>
          <p:nvPr/>
        </p:nvCxnSpPr>
        <p:spPr>
          <a:xfrm>
            <a:off x="8823960" y="3662236"/>
            <a:ext cx="640080" cy="0"/>
          </a:xfrm>
          <a:prstGeom prst="line">
            <a:avLst/>
          </a:prstGeom>
          <a:ln w="38100">
            <a:solidFill>
              <a:srgbClr val="FF6B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xm TextBox 18"/>
          <p:cNvSpPr txBox="1"/>
          <p:nvPr/>
        </p:nvSpPr>
        <p:spPr>
          <a:xfrm>
            <a:off x="8823960" y="384511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订单交付周期缩短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8549640" y="2820860"/>
            <a:ext cx="0" cy="1481455"/>
          </a:xfrm>
          <a:prstGeom prst="line">
            <a:avLst/>
          </a:prstGeom>
          <a:ln w="9525">
            <a:solidFill>
              <a:srgbClr val="D7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OEE 逐月提升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5934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3878A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graphicFrame>
        <p:nvGraphicFramePr>
          <p:cNvPr id="6" name="xm Chart 5"/>
          <p:cNvGraphicFramePr>
            <a:graphicFrameLocks noGrp="1"/>
          </p:cNvGraphicFramePr>
          <p:nvPr/>
        </p:nvGraphicFramePr>
        <p:xfrm>
          <a:off x="1143000" y="1161288"/>
          <a:ext cx="6517843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xm Rectangle 6"/>
          <p:cNvSpPr/>
          <p:nvPr/>
        </p:nvSpPr>
        <p:spPr>
          <a:xfrm>
            <a:off x="8026603" y="1161288"/>
            <a:ext cx="2991917" cy="4663440"/>
          </a:xfrm>
          <a:prstGeom prst="rect">
            <a:avLst/>
          </a:prstGeom>
          <a:solidFill>
            <a:srgbClr val="F4E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TextBox 7"/>
          <p:cNvSpPr txBox="1"/>
          <p:nvPr/>
        </p:nvSpPr>
        <p:spPr>
          <a:xfrm>
            <a:off x="8346643" y="1481328"/>
            <a:ext cx="2351837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82</a:t>
            </a:r>
            <a:r>
              <a:rPr sz="18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8346643" y="2441448"/>
            <a:ext cx="2351837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10 月 OEE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8346643" y="3218688"/>
            <a:ext cx="2351837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比年初提升 14 个百分点，熔炼车间最高达 86%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做了哪些事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四个建设模块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Rectangle 4"/>
          <p:cNvSpPr/>
          <p:nvPr/>
        </p:nvSpPr>
        <p:spPr>
          <a:xfrm>
            <a:off x="114300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xm Rectangle 5"/>
          <p:cNvSpPr/>
          <p:nvPr/>
        </p:nvSpPr>
        <p:spPr>
          <a:xfrm>
            <a:off x="114300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Oval 6"/>
          <p:cNvSpPr/>
          <p:nvPr/>
        </p:nvSpPr>
        <p:spPr>
          <a:xfrm>
            <a:off x="152704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xm Picture 7" descr="zap-1E25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36" y="2311286"/>
            <a:ext cx="412724" cy="412724"/>
          </a:xfrm>
          <a:prstGeom prst="rect">
            <a:avLst/>
          </a:prstGeom>
        </p:spPr>
      </p:pic>
      <p:sp>
        <p:nvSpPr>
          <p:cNvPr id="9" name="xm TextBox 8"/>
          <p:cNvSpPr txBox="1"/>
          <p:nvPr/>
        </p:nvSpPr>
        <p:spPr>
          <a:xfrm>
            <a:off x="152704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设备联网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52704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412 台关键设备实时采集运行数据</a:t>
            </a:r>
          </a:p>
        </p:txBody>
      </p:sp>
      <p:sp>
        <p:nvSpPr>
          <p:cNvPr id="11" name="xm Rectangle 10"/>
          <p:cNvSpPr/>
          <p:nvPr/>
        </p:nvSpPr>
        <p:spPr>
          <a:xfrm>
            <a:off x="368046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368046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Oval 12"/>
          <p:cNvSpPr/>
          <p:nvPr/>
        </p:nvSpPr>
        <p:spPr>
          <a:xfrm>
            <a:off x="406450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xm Picture 13" descr="database-1E25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996" y="2311286"/>
            <a:ext cx="412724" cy="41272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406450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质量追溯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406450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每个铸件绑定唯一码，工序数据可回溯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621792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Rectangle 17"/>
          <p:cNvSpPr/>
          <p:nvPr/>
        </p:nvSpPr>
        <p:spPr>
          <a:xfrm>
            <a:off x="621792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660196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factory-1E25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456" y="2311286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660196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能源管理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660196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分车间、分设备计量，异常用能自动报警</a:t>
            </a:r>
          </a:p>
        </p:txBody>
      </p:sp>
      <p:sp>
        <p:nvSpPr>
          <p:cNvPr id="23" name="xm Rectangle 22"/>
          <p:cNvSpPr/>
          <p:nvPr/>
        </p:nvSpPr>
        <p:spPr>
          <a:xfrm>
            <a:off x="8755380" y="1736750"/>
            <a:ext cx="2263140" cy="387827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Rectangle 23"/>
          <p:cNvSpPr/>
          <p:nvPr/>
        </p:nvSpPr>
        <p:spPr>
          <a:xfrm>
            <a:off x="8755380" y="1736750"/>
            <a:ext cx="226314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Oval 24"/>
          <p:cNvSpPr/>
          <p:nvPr/>
        </p:nvSpPr>
        <p:spPr>
          <a:xfrm>
            <a:off x="9139428" y="212079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xm Picture 25" descr="gauge-1E25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9916" y="2311286"/>
            <a:ext cx="412724" cy="412724"/>
          </a:xfrm>
          <a:prstGeom prst="rect">
            <a:avLst/>
          </a:prstGeom>
        </p:spPr>
      </p:pic>
      <p:sp>
        <p:nvSpPr>
          <p:cNvPr id="27" name="xm TextBox 26"/>
          <p:cNvSpPr txBox="1"/>
          <p:nvPr/>
        </p:nvSpPr>
        <p:spPr>
          <a:xfrm>
            <a:off x="9139428" y="3097378"/>
            <a:ext cx="149504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排产优化</a:t>
            </a:r>
          </a:p>
        </p:txBody>
      </p:sp>
      <p:sp>
        <p:nvSpPr>
          <p:cNvPr id="28" name="xm TextBox 27"/>
          <p:cNvSpPr txBox="1"/>
          <p:nvPr/>
        </p:nvSpPr>
        <p:spPr>
          <a:xfrm>
            <a:off x="9139428" y="3646018"/>
            <a:ext cx="1495044" cy="17001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APS 系统按订单优先级和产能自动排产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建设历程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cxnSp>
        <p:nvCxnSpPr>
          <p:cNvPr id="5" name="xm Connector 4"/>
          <p:cNvCxnSpPr/>
          <p:nvPr/>
        </p:nvCxnSpPr>
        <p:spPr>
          <a:xfrm>
            <a:off x="1143000" y="3634740"/>
            <a:ext cx="9875520" cy="0"/>
          </a:xfrm>
          <a:prstGeom prst="line">
            <a:avLst/>
          </a:prstGeom>
          <a:ln w="38100">
            <a:solidFill>
              <a:srgbClr val="F8B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xm Oval 5"/>
          <p:cNvSpPr/>
          <p:nvPr/>
        </p:nvSpPr>
        <p:spPr>
          <a:xfrm>
            <a:off x="1143000" y="349758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TextBox 6"/>
          <p:cNvSpPr txBox="1"/>
          <p:nvPr/>
        </p:nvSpPr>
        <p:spPr>
          <a:xfrm>
            <a:off x="114300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2025年11月</a:t>
            </a:r>
          </a:p>
        </p:txBody>
      </p:sp>
      <p:sp>
        <p:nvSpPr>
          <p:cNvPr id="8" name="xm TextBox 7"/>
          <p:cNvSpPr txBox="1"/>
          <p:nvPr/>
        </p:nvSpPr>
        <p:spPr>
          <a:xfrm>
            <a:off x="114300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完成设备联网和数据中台</a:t>
            </a:r>
          </a:p>
        </p:txBody>
      </p:sp>
      <p:sp>
        <p:nvSpPr>
          <p:cNvPr id="9" name="xm Oval 8"/>
          <p:cNvSpPr/>
          <p:nvPr/>
        </p:nvSpPr>
        <p:spPr>
          <a:xfrm>
            <a:off x="3611880" y="349758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xm TextBox 9"/>
          <p:cNvSpPr txBox="1"/>
          <p:nvPr/>
        </p:nvSpPr>
        <p:spPr>
          <a:xfrm>
            <a:off x="361188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2026年3月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361188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质量追溯系统全厂上线</a:t>
            </a:r>
          </a:p>
        </p:txBody>
      </p:sp>
      <p:sp>
        <p:nvSpPr>
          <p:cNvPr id="12" name="xm Oval 11"/>
          <p:cNvSpPr/>
          <p:nvPr/>
        </p:nvSpPr>
        <p:spPr>
          <a:xfrm>
            <a:off x="6080760" y="3497580"/>
            <a:ext cx="274320" cy="2743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TextBox 12"/>
          <p:cNvSpPr txBox="1"/>
          <p:nvPr/>
        </p:nvSpPr>
        <p:spPr>
          <a:xfrm>
            <a:off x="608076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2026年6月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608076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能源管理平台投用</a:t>
            </a:r>
          </a:p>
        </p:txBody>
      </p:sp>
      <p:sp>
        <p:nvSpPr>
          <p:cNvPr id="15" name="xm Oval 14"/>
          <p:cNvSpPr/>
          <p:nvPr/>
        </p:nvSpPr>
        <p:spPr>
          <a:xfrm>
            <a:off x="8549640" y="3497580"/>
            <a:ext cx="274320" cy="274320"/>
          </a:xfrm>
          <a:prstGeom prst="ellipse">
            <a:avLst/>
          </a:prstGeom>
          <a:solidFill>
            <a:srgbClr val="FF6B1A"/>
          </a:solidFill>
          <a:ln w="127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8549640" y="2537460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9A4C22"/>
                </a:solidFill>
                <a:latin typeface="微软雅黑"/>
                <a:ea typeface="微软雅黑"/>
                <a:cs typeface="微软雅黑"/>
              </a:rPr>
              <a:t>2026年9月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8549640" y="4000500"/>
            <a:ext cx="2194560" cy="8138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APS 智能排产试运行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问题与不足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各车间进度不均衡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5934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3878A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1143000" y="116128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涂装车间两项指标都垫底，是明年的改造重点</a:t>
            </a:r>
          </a:p>
        </p:txBody>
      </p:sp>
      <p:graphicFrame>
        <p:nvGraphicFramePr>
          <p:cNvPr id="7" name="xm Chart 6"/>
          <p:cNvGraphicFramePr>
            <a:graphicFrameLocks noGrp="1"/>
          </p:cNvGraphicFramePr>
          <p:nvPr/>
        </p:nvGraphicFramePr>
        <p:xfrm>
          <a:off x="1143000" y="1892808"/>
          <a:ext cx="9875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主要短板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xm Rectangle 4"/>
          <p:cNvSpPr/>
          <p:nvPr/>
        </p:nvSpPr>
        <p:spPr>
          <a:xfrm>
            <a:off x="1143000" y="2110130"/>
            <a:ext cx="3108960" cy="313151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xm Rectangle 5"/>
          <p:cNvSpPr/>
          <p:nvPr/>
        </p:nvSpPr>
        <p:spPr>
          <a:xfrm>
            <a:off x="1143000" y="2110130"/>
            <a:ext cx="310896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Oval 6"/>
          <p:cNvSpPr/>
          <p:nvPr/>
        </p:nvSpPr>
        <p:spPr>
          <a:xfrm>
            <a:off x="1527048" y="249417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xm Picture 7" descr="cpu-1E25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36" y="2684666"/>
            <a:ext cx="412724" cy="412724"/>
          </a:xfrm>
          <a:prstGeom prst="rect">
            <a:avLst/>
          </a:prstGeom>
        </p:spPr>
      </p:pic>
      <p:sp>
        <p:nvSpPr>
          <p:cNvPr id="9" name="xm TextBox 8"/>
          <p:cNvSpPr txBox="1"/>
          <p:nvPr/>
        </p:nvSpPr>
        <p:spPr>
          <a:xfrm>
            <a:off x="1527048" y="3470758"/>
            <a:ext cx="234086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老旧设备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1527048" y="4019398"/>
            <a:ext cx="234086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涂装线 30% 设备无法直接联网</a:t>
            </a:r>
          </a:p>
        </p:txBody>
      </p:sp>
      <p:sp>
        <p:nvSpPr>
          <p:cNvPr id="11" name="xm Rectangle 10"/>
          <p:cNvSpPr/>
          <p:nvPr/>
        </p:nvSpPr>
        <p:spPr>
          <a:xfrm>
            <a:off x="4526280" y="2110130"/>
            <a:ext cx="3108960" cy="313151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4526280" y="2110130"/>
            <a:ext cx="310896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Oval 12"/>
          <p:cNvSpPr/>
          <p:nvPr/>
        </p:nvSpPr>
        <p:spPr>
          <a:xfrm>
            <a:off x="4910328" y="249417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xm Picture 13" descr="database-1E25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816" y="2684666"/>
            <a:ext cx="412724" cy="41272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4910328" y="3470758"/>
            <a:ext cx="234086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数据质量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4910328" y="4019398"/>
            <a:ext cx="234086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人工补录数据占比仍有 12%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7909560" y="2110130"/>
            <a:ext cx="3108960" cy="3131515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Rectangle 17"/>
          <p:cNvSpPr/>
          <p:nvPr/>
        </p:nvSpPr>
        <p:spPr>
          <a:xfrm>
            <a:off x="7909560" y="2110130"/>
            <a:ext cx="3108960" cy="64008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8293608" y="2494178"/>
            <a:ext cx="793699" cy="793699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database-1E25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096" y="2684666"/>
            <a:ext cx="412724" cy="412724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8293608" y="3470758"/>
            <a:ext cx="234086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人才缺口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8293608" y="4019398"/>
            <a:ext cx="234086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懂工艺又懂数据的复合型人才不足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264920"/>
            <a:ext cx="3657600" cy="1935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0" b="1">
                <a:solidFill>
                  <a:srgbClr val="FF6B1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2027 年计划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三步走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84048"/>
            <a:ext cx="1645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9AA5B1"/>
                </a:solidFill>
                <a:latin typeface="微软雅黑"/>
                <a:ea typeface="微软雅黑"/>
              </a:rPr>
              <a:t>华铸智造</a:t>
            </a:r>
          </a:p>
        </p:txBody>
      </p:sp>
      <p:cxnSp>
        <p:nvCxnSpPr>
          <p:cNvPr id="5" name="xm Connector 4"/>
          <p:cNvCxnSpPr/>
          <p:nvPr/>
        </p:nvCxnSpPr>
        <p:spPr>
          <a:xfrm>
            <a:off x="2697480" y="2467280"/>
            <a:ext cx="6766560" cy="0"/>
          </a:xfrm>
          <a:prstGeom prst="line">
            <a:avLst/>
          </a:prstGeom>
          <a:ln w="38100">
            <a:solidFill>
              <a:srgbClr val="F8B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xm Oval 5"/>
          <p:cNvSpPr/>
          <p:nvPr/>
        </p:nvSpPr>
        <p:spPr>
          <a:xfrm>
            <a:off x="2249424" y="2019224"/>
            <a:ext cx="896112" cy="896112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xm Rectangle 6"/>
          <p:cNvSpPr/>
          <p:nvPr/>
        </p:nvSpPr>
        <p:spPr>
          <a:xfrm>
            <a:off x="1143000" y="3235376"/>
            <a:ext cx="3108960" cy="2097176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xm TextBox 7"/>
          <p:cNvSpPr txBox="1"/>
          <p:nvPr/>
        </p:nvSpPr>
        <p:spPr>
          <a:xfrm>
            <a:off x="1424635" y="3517011"/>
            <a:ext cx="25456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补齐短板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1424635" y="4010787"/>
            <a:ext cx="2545690" cy="1058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涂装线改造，数据采集覆盖率达到 95%</a:t>
            </a:r>
          </a:p>
        </p:txBody>
      </p:sp>
      <p:sp>
        <p:nvSpPr>
          <p:cNvPr id="10" name="xm Oval 9"/>
          <p:cNvSpPr/>
          <p:nvPr/>
        </p:nvSpPr>
        <p:spPr>
          <a:xfrm>
            <a:off x="5632704" y="2019224"/>
            <a:ext cx="896112" cy="896112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xm Rectangle 10"/>
          <p:cNvSpPr/>
          <p:nvPr/>
        </p:nvSpPr>
        <p:spPr>
          <a:xfrm>
            <a:off x="4526280" y="3235376"/>
            <a:ext cx="3108960" cy="2097176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TextBox 11"/>
          <p:cNvSpPr txBox="1"/>
          <p:nvPr/>
        </p:nvSpPr>
        <p:spPr>
          <a:xfrm>
            <a:off x="4807915" y="3517011"/>
            <a:ext cx="25456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深化应用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4807915" y="4010787"/>
            <a:ext cx="2545690" cy="1058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上线预测性维护，非计划停机减少 30%</a:t>
            </a:r>
          </a:p>
        </p:txBody>
      </p:sp>
      <p:sp>
        <p:nvSpPr>
          <p:cNvPr id="14" name="xm Oval 13"/>
          <p:cNvSpPr/>
          <p:nvPr/>
        </p:nvSpPr>
        <p:spPr>
          <a:xfrm>
            <a:off x="9015984" y="2019224"/>
            <a:ext cx="896112" cy="896112"/>
          </a:xfrm>
          <a:prstGeom prst="ellipse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xm Rectangle 14"/>
          <p:cNvSpPr/>
          <p:nvPr/>
        </p:nvSpPr>
        <p:spPr>
          <a:xfrm>
            <a:off x="7909560" y="3235376"/>
            <a:ext cx="3108960" cy="2097176"/>
          </a:xfrm>
          <a:prstGeom prst="rect">
            <a:avLst/>
          </a:prstGeom>
          <a:solidFill>
            <a:srgbClr val="F3EFED"/>
          </a:solidFill>
          <a:ln>
            <a:noFill/>
          </a:ln>
          <a:effectLst>
            <a:outerShdw blurRad="203200" dist="38100" dir="5400000" algn="t" rotWithShape="0">
              <a:srgbClr val="80360D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8191195" y="3517011"/>
            <a:ext cx="25456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E252B"/>
                </a:solidFill>
                <a:latin typeface="微软雅黑"/>
                <a:ea typeface="微软雅黑"/>
                <a:cs typeface="微软雅黑"/>
              </a:rPr>
              <a:t>对外输出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8191195" y="4010787"/>
            <a:ext cx="2545690" cy="105841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64C51"/>
                </a:solidFill>
                <a:latin typeface="微软雅黑"/>
                <a:ea typeface="微软雅黑"/>
                <a:cs typeface="微软雅黑"/>
              </a:rPr>
              <a:t>形成集团标准，复制到两家兄弟工厂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74320"/>
            <a:ext cx="82296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F6B1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2926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2027 年计划</a:t>
            </a:r>
          </a:p>
        </p:txBody>
      </p:sp>
      <p:sp>
        <p:nvSpPr>
          <p:cNvPr id="5" name="xm TextBox 4"/>
          <p:cNvSpPr txBox="1"/>
          <p:nvPr/>
        </p:nvSpPr>
        <p:spPr>
          <a:xfrm>
            <a:off x="1143000" y="2233168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FF6B1A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1325880" y="3284728"/>
            <a:ext cx="6217920" cy="1330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精益是方法，数字化是工具，人始终是核心。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fg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603503"/>
            <a:ext cx="219456" cy="219456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" y="530352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华铸智造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6B1A"/>
                </a:solidFill>
                <a:latin typeface="微软雅黑"/>
                <a:ea typeface="微软雅黑"/>
              </a:rPr>
              <a:t>精益求精 · 智造未来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