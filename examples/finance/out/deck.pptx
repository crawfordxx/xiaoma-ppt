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13"/>
    <p:sldId id="263" r:id="rId14"/>
    <p:sldId id="264" r:id="rId15"/>
    <p:sldId id="265" r:id="rId16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管理规模（亿元）</c:v>
                </c:pt>
              </c:strCache>
            </c:strRef>
          </c:tx>
          <c:spPr>
            <a:solidFill>
              <a:srgbClr val="0B1F3A"/>
            </a:solidFill>
            <a:ln>
              <a:noFill/>
            </a:ln>
          </c:spPr>
          <c:dPt>
            <c:idx val="0"/>
            <c:spPr>
              <a:solidFill>
                <a:srgbClr val="919AA6"/>
              </a:solidFill>
            </c:spPr>
          </c:dPt>
          <c:dPt>
            <c:idx val="1"/>
            <c:spPr>
              <a:solidFill>
                <a:srgbClr val="919AA6"/>
              </a:solidFill>
            </c:spPr>
          </c:dPt>
          <c:dPt>
            <c:idx val="2"/>
            <c:spPr>
              <a:solidFill>
                <a:srgbClr val="919AA6"/>
              </a:solidFill>
            </c:spPr>
          </c:dPt>
          <c:dPt>
            <c:idx val="3"/>
            <c:spPr>
              <a:solidFill>
                <a:srgbClr val="919AA6"/>
              </a:solidFill>
            </c:spPr>
          </c:dPt>
          <c:dPt>
            <c:idx val="4"/>
            <c:spPr>
              <a:solidFill>
                <a:srgbClr val="0B1F3A"/>
              </a:solidFill>
            </c:spPr>
          </c:dPt>
          <c:cat>
            <c:strRef>
              <c:f>Sheet1!$A$2:$A$6</c:f>
              <c:strCache>
                <c:ptCount val="5"/>
                <c:pt idx="0">
                  <c:v>2025Q3</c:v>
                </c:pt>
                <c:pt idx="1">
                  <c:v>2025Q4</c:v>
                </c:pt>
                <c:pt idx="2">
                  <c:v>2026Q1</c:v>
                </c:pt>
                <c:pt idx="3">
                  <c:v>2026Q2</c:v>
                </c:pt>
                <c:pt idx="4">
                  <c:v>2026Q3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1084.0</c:v>
                </c:pt>
                <c:pt idx="1">
                  <c:v>1120.0</c:v>
                </c:pt>
                <c:pt idx="2">
                  <c:v>1163.0</c:v>
                </c:pt>
                <c:pt idx="3">
                  <c:v>1219.0</c:v>
                </c:pt>
                <c:pt idx="4">
                  <c:v>1286.0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500" b="1">
                  <a:solidFill>
                    <a:srgbClr val="1B24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0E2E4"/>
            </a:solidFill>
          </a:ln>
        </c:spPr>
        <c:txPr>
          <a:bodyPr/>
          <a:lstStyle/>
          <a:p>
            <a:pPr>
              <a:defRPr sz="1400">
                <a:solidFill>
                  <a:srgbClr val="444B5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rgbClr val="82878F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444B58"/>
          </a:solidFill>
          <a:latin typeface="微软雅黑"/>
          <a:ea typeface="微软雅黑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收入占比</c:v>
                </c:pt>
              </c:strCache>
            </c:strRef>
          </c:tx>
          <c:dPt>
            <c:idx val="0"/>
            <c:spPr>
              <a:solidFill>
                <a:srgbClr val="0B1F3A"/>
              </a:solidFill>
              <a:ln>
                <a:solidFill>
                  <a:srgbClr val="FEFEFE"/>
                </a:solidFill>
              </a:ln>
            </c:spPr>
          </c:dPt>
          <c:dPt>
            <c:idx val="1"/>
            <c:spPr>
              <a:solidFill>
                <a:srgbClr val="C9A45C"/>
              </a:solidFill>
              <a:ln>
                <a:solidFill>
                  <a:srgbClr val="FEFEFE"/>
                </a:solidFill>
              </a:ln>
            </c:spPr>
          </c:dPt>
          <c:dPt>
            <c:idx val="2"/>
            <c:spPr>
              <a:solidFill>
                <a:srgbClr val="848E9C"/>
              </a:solidFill>
              <a:ln>
                <a:solidFill>
                  <a:srgbClr val="FEFEFE"/>
                </a:solidFill>
              </a:ln>
            </c:spPr>
          </c:dPt>
          <c:dPt>
            <c:idx val="3"/>
            <c:spPr>
              <a:solidFill>
                <a:srgbClr val="E4D1AD"/>
              </a:solidFill>
              <a:ln>
                <a:solidFill>
                  <a:srgbClr val="FEFEFE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固收+</c:v>
                </c:pt>
                <c:pt idx="1">
                  <c:v>权益类</c:v>
                </c:pt>
                <c:pt idx="2">
                  <c:v>现金管理</c:v>
                </c:pt>
                <c:pt idx="3">
                  <c:v>另类投资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52.0</c:v>
                </c:pt>
                <c:pt idx="1">
                  <c:v>23.0</c:v>
                </c:pt>
                <c:pt idx="2">
                  <c:v>15.0</c:v>
                </c:pt>
                <c:pt idx="3">
                  <c:v>10.0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5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600">
              <a:solidFill>
                <a:srgbClr val="444B58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400">
          <a:solidFill>
            <a:srgbClr val="444B58"/>
          </a:solidFill>
          <a:latin typeface="微软雅黑"/>
          <a:ea typeface="微软雅黑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客户数（户）</c:v>
                </c:pt>
              </c:strCache>
            </c:strRef>
          </c:tx>
          <c:spPr>
            <a:solidFill>
              <a:srgbClr val="0B1F3A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大众客户</c:v>
                </c:pt>
                <c:pt idx="1">
                  <c:v>富裕客户</c:v>
                </c:pt>
                <c:pt idx="2">
                  <c:v>高净值客户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31200.0</c:v>
                </c:pt>
                <c:pt idx="1">
                  <c:v>8900.0</c:v>
                </c:pt>
                <c:pt idx="2">
                  <c:v>1900.0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300" b="1">
                  <a:solidFill>
                    <a:srgbClr val="1B24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0E2E4"/>
            </a:solidFill>
          </a:ln>
        </c:spPr>
        <c:txPr>
          <a:bodyPr/>
          <a:lstStyle/>
          <a:p>
            <a:pPr>
              <a:defRPr sz="1200">
                <a:solidFill>
                  <a:srgbClr val="444B5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82878F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444B58"/>
          </a:solidFill>
          <a:latin typeface="微软雅黑"/>
          <a:ea typeface="微软雅黑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户均资产（万元）</c:v>
                </c:pt>
              </c:strCache>
            </c:strRef>
          </c:tx>
          <c:spPr>
            <a:solidFill>
              <a:srgbClr val="0B1F3A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大众客户</c:v>
                </c:pt>
                <c:pt idx="1">
                  <c:v>富裕客户</c:v>
                </c:pt>
                <c:pt idx="2">
                  <c:v>高净值客户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86.0</c:v>
                </c:pt>
                <c:pt idx="1">
                  <c:v>420.0</c:v>
                </c:pt>
                <c:pt idx="2">
                  <c:v>2650.0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300" b="1">
                  <a:solidFill>
                    <a:srgbClr val="1B24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0E2E4"/>
            </a:solidFill>
          </a:ln>
        </c:spPr>
        <c:txPr>
          <a:bodyPr/>
          <a:lstStyle/>
          <a:p>
            <a:pPr>
              <a:defRPr sz="1200">
                <a:solidFill>
                  <a:srgbClr val="444B5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82878F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444B58"/>
          </a:solidFill>
          <a:latin typeface="微软雅黑"/>
          <a:ea typeface="微软雅黑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三季度在市场波动加大的情况下，管理规模和收入都超额完成了年度节奏。</a:t>
            </a:r>
          </a:p>
          <a:p>
            <a:r>
              <a:t>· 管理资产规模 1,286 亿元，同比增长 18.6%</a:t>
            </a:r>
          </a:p>
          <a:p>
            <a:r>
              <a:t>· 有效客户 4.2 万户，净增 5,300 户</a:t>
            </a:r>
          </a:p>
          <a:p>
            <a:r>
              <a:t>· 中间业务收入 9.7 亿元，完成全年目标 81%</a:t>
            </a:r>
          </a:p>
          <a:p>
            <a:r>
              <a:t>· 客户综合满意度 96.2%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季度｜管理规模（亿元）</a:t>
            </a:r>
          </a:p>
          <a:p>
            <a:r>
              <a:t>2025Q3｜1084</a:t>
            </a:r>
          </a:p>
          <a:p>
            <a:r>
              <a:t>2025Q4｜1120</a:t>
            </a:r>
          </a:p>
          <a:p>
            <a:r>
              <a:t>2026Q1｜1163</a:t>
            </a:r>
          </a:p>
          <a:p>
            <a:r>
              <a:t>2026Q2｜1219</a:t>
            </a:r>
          </a:p>
          <a:p>
            <a:r>
              <a:t>2026Q3｜1286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固收+ 产品贡献了一半以上的收入，权益类产品占比回升。</a:t>
            </a:r>
          </a:p>
          <a:p>
            <a:r>
              <a:t>产品线｜收入占比</a:t>
            </a:r>
          </a:p>
          <a:p>
            <a:r>
              <a:t>固收+｜52%</a:t>
            </a:r>
          </a:p>
          <a:p>
            <a:r>
              <a:t>权益类｜23%</a:t>
            </a:r>
          </a:p>
          <a:p>
            <a:r>
              <a:t>现金管理｜15%</a:t>
            </a:r>
          </a:p>
          <a:p>
            <a:r>
              <a:t>另类投资｜10%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客户层级｜客户数（户）｜户均资产（万元）</a:t>
            </a:r>
          </a:p>
          <a:p>
            <a:r>
              <a:t>大众客户｜31200｜86</a:t>
            </a:r>
          </a:p>
          <a:p>
            <a:r>
              <a:t>富裕客户｜8900｜420</a:t>
            </a:r>
          </a:p>
          <a:p>
            <a:r>
              <a:t>高净值客户｜1900｜2650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· 获客成本上升：单户获客成本同比上涨 22%，线上渠道转化率下滑</a:t>
            </a:r>
          </a:p>
          <a:p>
            <a:r>
              <a:t>· 产品同质化：固收+ 产品与同业差异不大，价格竞争加剧</a:t>
            </a:r>
          </a:p>
          <a:p>
            <a:r>
              <a:t>· 投顾产能不足：人均服务客户 310 户，高于行业均值 1.4 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转型的核心是考核方式变了。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客群分层经营：按资产和风险偏好重新划分 12 个客群</a:t>
            </a:r>
          </a:p>
          <a:p>
            <a:r>
              <a:t>2. 投顾团队扩编：新增 40 名持证投顾，覆盖高净值客户</a:t>
            </a:r>
          </a:p>
          <a:p>
            <a:r>
              <a:t>3. 数字助手上线：客户经理工作台接入智能配置建议</a:t>
            </a:r>
          </a:p>
          <a:p>
            <a:r>
              <a:t>4. 年终配置季：11–12 月开展全辖年终资产检视活动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财富管理的本质，是陪客户穿越周期。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n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9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睿信资本 · 内部资料 · 请勿外传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 descr="fin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85216"/>
            <a:ext cx="237744" cy="237744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ogo"/>
          <p:cNvSpPr txBox="1"/>
          <p:nvPr/>
        </p:nvSpPr>
        <p:spPr>
          <a:xfrm>
            <a:off x="1042416" y="512063"/>
            <a:ext cx="23774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思源宋体"/>
                <a:ea typeface="思源宋体"/>
              </a:rPr>
              <a:t>睿信资本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331720"/>
            <a:ext cx="822960" cy="45720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921867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思源宋体"/>
                <a:ea typeface="思源宋体"/>
              </a:rPr>
              <a:t>2026 年三季度财富管理业务复盘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A45C"/>
                </a:solidFill>
                <a:latin typeface="微软雅黑"/>
                <a:ea typeface="微软雅黑"/>
              </a:rPr>
              <a:t>睿信资本 · 财富管理部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EB8CA"/>
                </a:solidFill>
                <a:latin typeface="微软雅黑"/>
                <a:ea typeface="微软雅黑"/>
              </a:rPr>
              <a:t>2026-10-12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思源宋体"/>
                <a:ea typeface="思源宋体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5468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0">
                <a:solidFill>
                  <a:srgbClr val="C9A45C"/>
                </a:solidFill>
                <a:latin typeface="微软雅黑"/>
                <a:ea typeface="微软雅黑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51560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C9A45C"/>
                </a:solidFill>
                <a:latin typeface="思源宋体"/>
                <a:ea typeface="思源宋体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161288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B2433"/>
                </a:solidFill>
                <a:latin typeface="微软雅黑"/>
                <a:ea typeface="微软雅黑"/>
              </a:rPr>
              <a:t>经营总览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54880" y="1856231"/>
            <a:ext cx="6583680" cy="0"/>
          </a:xfrm>
          <a:prstGeom prst="line">
            <a:avLst/>
          </a:prstGeom>
          <a:ln w="9525"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754880" y="2039112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C9A45C"/>
                </a:solidFill>
                <a:latin typeface="思源宋体"/>
                <a:ea typeface="思源宋体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14884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B2433"/>
                </a:solidFill>
                <a:latin typeface="微软雅黑"/>
                <a:ea typeface="微软雅黑"/>
              </a:rPr>
              <a:t>产品与客户结构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54880" y="2843784"/>
            <a:ext cx="6583680" cy="0"/>
          </a:xfrm>
          <a:prstGeom prst="line">
            <a:avLst/>
          </a:prstGeom>
          <a:ln w="9525"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754880" y="3026664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C9A45C"/>
                </a:solidFill>
                <a:latin typeface="思源宋体"/>
                <a:ea typeface="思源宋体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136392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B2433"/>
                </a:solidFill>
                <a:latin typeface="微软雅黑"/>
                <a:ea typeface="微软雅黑"/>
              </a:rPr>
              <a:t>问题与挑战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54880" y="3831336"/>
            <a:ext cx="6583680" cy="0"/>
          </a:xfrm>
          <a:prstGeom prst="line">
            <a:avLst/>
          </a:prstGeom>
          <a:ln w="9525"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754880" y="4014216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C9A45C"/>
                </a:solidFill>
                <a:latin typeface="思源宋体"/>
                <a:ea typeface="思源宋体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4123944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B2433"/>
                </a:solidFill>
                <a:latin typeface="微软雅黑"/>
                <a:ea typeface="微软雅黑"/>
              </a:rPr>
              <a:t>四季度行动计划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54880" y="4818888"/>
            <a:ext cx="6583680" cy="0"/>
          </a:xfrm>
          <a:prstGeom prst="line">
            <a:avLst/>
          </a:prstGeom>
          <a:ln w="9525"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85216"/>
            <a:ext cx="237744" cy="237744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ogo"/>
          <p:cNvSpPr txBox="1"/>
          <p:nvPr/>
        </p:nvSpPr>
        <p:spPr>
          <a:xfrm>
            <a:off x="1042416" y="512063"/>
            <a:ext cx="23774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思源宋体"/>
                <a:ea typeface="思源宋体"/>
              </a:rPr>
              <a:t>睿信资本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91056"/>
            <a:ext cx="2743200" cy="17007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600" b="1">
                <a:solidFill>
                  <a:srgbClr val="C9A45C"/>
                </a:solidFill>
                <a:latin typeface="思源宋体"/>
                <a:ea typeface="思源宋体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429000"/>
            <a:ext cx="548640" cy="36576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1188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思源宋体"/>
                <a:ea typeface="思源宋体"/>
              </a:rPr>
              <a:t>经营总览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C9A45C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思源宋体"/>
                <a:ea typeface="思源宋体"/>
              </a:rPr>
              <a:t>核心指标全面达成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457200"/>
            <a:ext cx="1463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RUIXIN CAPITAL</a:t>
            </a:r>
          </a:p>
        </p:txBody>
      </p:sp>
      <p:sp>
        <p:nvSpPr>
          <p:cNvPr id="6" name="xm TextBox 5"/>
          <p:cNvSpPr txBox="1"/>
          <p:nvPr/>
        </p:nvSpPr>
        <p:spPr>
          <a:xfrm>
            <a:off x="594360" y="5934456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2878F"/>
                </a:solidFill>
                <a:latin typeface="微软雅黑"/>
                <a:ea typeface="微软雅黑"/>
                <a:cs typeface="微软雅黑"/>
              </a:rPr>
              <a:t>示例数据</a:t>
            </a:r>
          </a:p>
        </p:txBody>
      </p:sp>
      <p:sp>
        <p:nvSpPr>
          <p:cNvPr id="7" name="xm TextBox 6"/>
          <p:cNvSpPr txBox="1"/>
          <p:nvPr/>
        </p:nvSpPr>
        <p:spPr>
          <a:xfrm>
            <a:off x="594360" y="161848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B2433"/>
                </a:solidFill>
                <a:latin typeface="微软雅黑"/>
                <a:ea typeface="微软雅黑"/>
                <a:cs typeface="微软雅黑"/>
              </a:rPr>
              <a:t>三季度在市场波动加大的情况下，管理规模和收入都超额完成了年度节奏。</a:t>
            </a:r>
          </a:p>
        </p:txBody>
      </p:sp>
      <p:sp>
        <p:nvSpPr>
          <p:cNvPr id="8" name="xm TextBox 7"/>
          <p:cNvSpPr txBox="1"/>
          <p:nvPr/>
        </p:nvSpPr>
        <p:spPr>
          <a:xfrm>
            <a:off x="594360" y="3212973"/>
            <a:ext cx="2606040" cy="66675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1,286</a:t>
            </a:r>
            <a:r>
              <a:rPr sz="17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 亿元</a:t>
            </a:r>
          </a:p>
        </p:txBody>
      </p:sp>
      <p:cxnSp>
        <p:nvCxnSpPr>
          <p:cNvPr id="9" name="xm Connector 8"/>
          <p:cNvCxnSpPr/>
          <p:nvPr/>
        </p:nvCxnSpPr>
        <p:spPr>
          <a:xfrm>
            <a:off x="594360" y="4016883"/>
            <a:ext cx="640080" cy="0"/>
          </a:xfrm>
          <a:prstGeom prst="line">
            <a:avLst/>
          </a:prstGeom>
          <a:ln w="3810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xm TextBox 9"/>
          <p:cNvSpPr txBox="1"/>
          <p:nvPr/>
        </p:nvSpPr>
        <p:spPr>
          <a:xfrm>
            <a:off x="594360" y="4199763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B2433"/>
                </a:solidFill>
                <a:latin typeface="微软雅黑"/>
                <a:ea typeface="微软雅黑"/>
                <a:cs typeface="微软雅黑"/>
              </a:rPr>
              <a:t>管理资产规模</a:t>
            </a:r>
          </a:p>
        </p:txBody>
      </p:sp>
      <p:sp>
        <p:nvSpPr>
          <p:cNvPr id="11" name="xm TextBox 10"/>
          <p:cNvSpPr txBox="1"/>
          <p:nvPr/>
        </p:nvSpPr>
        <p:spPr>
          <a:xfrm>
            <a:off x="594360" y="4656963"/>
            <a:ext cx="2560320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2878F"/>
                </a:solidFill>
                <a:latin typeface="微软雅黑"/>
                <a:ea typeface="微软雅黑"/>
                <a:cs typeface="微软雅黑"/>
              </a:rPr>
              <a:t>同比增长 18.6%</a:t>
            </a:r>
          </a:p>
        </p:txBody>
      </p:sp>
      <p:sp>
        <p:nvSpPr>
          <p:cNvPr id="12" name="xm TextBox 11"/>
          <p:cNvSpPr txBox="1"/>
          <p:nvPr/>
        </p:nvSpPr>
        <p:spPr>
          <a:xfrm>
            <a:off x="3611880" y="3212973"/>
            <a:ext cx="2331720" cy="66675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4.2</a:t>
            </a:r>
            <a:r>
              <a:rPr sz="17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 万户</a:t>
            </a:r>
          </a:p>
        </p:txBody>
      </p:sp>
      <p:cxnSp>
        <p:nvCxnSpPr>
          <p:cNvPr id="13" name="xm Connector 12"/>
          <p:cNvCxnSpPr/>
          <p:nvPr/>
        </p:nvCxnSpPr>
        <p:spPr>
          <a:xfrm>
            <a:off x="3611880" y="4016883"/>
            <a:ext cx="640080" cy="0"/>
          </a:xfrm>
          <a:prstGeom prst="line">
            <a:avLst/>
          </a:prstGeom>
          <a:ln w="3810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xm TextBox 13"/>
          <p:cNvSpPr txBox="1"/>
          <p:nvPr/>
        </p:nvSpPr>
        <p:spPr>
          <a:xfrm>
            <a:off x="3611880" y="4199763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B2433"/>
                </a:solidFill>
                <a:latin typeface="微软雅黑"/>
                <a:ea typeface="微软雅黑"/>
                <a:cs typeface="微软雅黑"/>
              </a:rPr>
              <a:t>有效客户</a:t>
            </a:r>
          </a:p>
        </p:txBody>
      </p:sp>
      <p:sp>
        <p:nvSpPr>
          <p:cNvPr id="15" name="xm TextBox 14"/>
          <p:cNvSpPr txBox="1"/>
          <p:nvPr/>
        </p:nvSpPr>
        <p:spPr>
          <a:xfrm>
            <a:off x="3611880" y="4656963"/>
            <a:ext cx="2286000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2878F"/>
                </a:solidFill>
                <a:latin typeface="微软雅黑"/>
                <a:ea typeface="微软雅黑"/>
                <a:cs typeface="微软雅黑"/>
              </a:rPr>
              <a:t>净增 5,300 户</a:t>
            </a:r>
          </a:p>
        </p:txBody>
      </p:sp>
      <p:cxnSp>
        <p:nvCxnSpPr>
          <p:cNvPr id="16" name="xm Connector 15"/>
          <p:cNvCxnSpPr/>
          <p:nvPr/>
        </p:nvCxnSpPr>
        <p:spPr>
          <a:xfrm>
            <a:off x="3337560" y="3350133"/>
            <a:ext cx="0" cy="1611630"/>
          </a:xfrm>
          <a:prstGeom prst="line">
            <a:avLst/>
          </a:prstGeom>
          <a:ln w="9525">
            <a:solidFill>
              <a:srgbClr val="E0E2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xm TextBox 16"/>
          <p:cNvSpPr txBox="1"/>
          <p:nvPr/>
        </p:nvSpPr>
        <p:spPr>
          <a:xfrm>
            <a:off x="6355080" y="3212973"/>
            <a:ext cx="2331720" cy="66675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9.7</a:t>
            </a:r>
            <a:r>
              <a:rPr sz="17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 亿元</a:t>
            </a:r>
          </a:p>
        </p:txBody>
      </p:sp>
      <p:cxnSp>
        <p:nvCxnSpPr>
          <p:cNvPr id="18" name="xm Connector 17"/>
          <p:cNvCxnSpPr/>
          <p:nvPr/>
        </p:nvCxnSpPr>
        <p:spPr>
          <a:xfrm>
            <a:off x="6355080" y="4016883"/>
            <a:ext cx="640080" cy="0"/>
          </a:xfrm>
          <a:prstGeom prst="line">
            <a:avLst/>
          </a:prstGeom>
          <a:ln w="3810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xm TextBox 18"/>
          <p:cNvSpPr txBox="1"/>
          <p:nvPr/>
        </p:nvSpPr>
        <p:spPr>
          <a:xfrm>
            <a:off x="6355080" y="4199763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B2433"/>
                </a:solidFill>
                <a:latin typeface="微软雅黑"/>
                <a:ea typeface="微软雅黑"/>
                <a:cs typeface="微软雅黑"/>
              </a:rPr>
              <a:t>中间业务收入</a:t>
            </a:r>
          </a:p>
        </p:txBody>
      </p:sp>
      <p:sp>
        <p:nvSpPr>
          <p:cNvPr id="20" name="xm TextBox 19"/>
          <p:cNvSpPr txBox="1"/>
          <p:nvPr/>
        </p:nvSpPr>
        <p:spPr>
          <a:xfrm>
            <a:off x="6355080" y="4656963"/>
            <a:ext cx="2286000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2878F"/>
                </a:solidFill>
                <a:latin typeface="微软雅黑"/>
                <a:ea typeface="微软雅黑"/>
                <a:cs typeface="微软雅黑"/>
              </a:rPr>
              <a:t>完成全年目标 81%</a:t>
            </a:r>
          </a:p>
        </p:txBody>
      </p:sp>
      <p:cxnSp>
        <p:nvCxnSpPr>
          <p:cNvPr id="21" name="xm Connector 20"/>
          <p:cNvCxnSpPr/>
          <p:nvPr/>
        </p:nvCxnSpPr>
        <p:spPr>
          <a:xfrm>
            <a:off x="6080760" y="3350133"/>
            <a:ext cx="0" cy="1611630"/>
          </a:xfrm>
          <a:prstGeom prst="line">
            <a:avLst/>
          </a:prstGeom>
          <a:ln w="9525">
            <a:solidFill>
              <a:srgbClr val="E0E2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xm TextBox 21"/>
          <p:cNvSpPr txBox="1"/>
          <p:nvPr/>
        </p:nvSpPr>
        <p:spPr>
          <a:xfrm>
            <a:off x="9098280" y="3212973"/>
            <a:ext cx="2331720" cy="66675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96.2</a:t>
            </a:r>
            <a:r>
              <a:rPr sz="17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 %</a:t>
            </a:r>
          </a:p>
        </p:txBody>
      </p:sp>
      <p:cxnSp>
        <p:nvCxnSpPr>
          <p:cNvPr id="23" name="xm Connector 22"/>
          <p:cNvCxnSpPr/>
          <p:nvPr/>
        </p:nvCxnSpPr>
        <p:spPr>
          <a:xfrm>
            <a:off x="9098280" y="4016883"/>
            <a:ext cx="640080" cy="0"/>
          </a:xfrm>
          <a:prstGeom prst="line">
            <a:avLst/>
          </a:prstGeom>
          <a:ln w="3810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xm TextBox 23"/>
          <p:cNvSpPr txBox="1"/>
          <p:nvPr/>
        </p:nvSpPr>
        <p:spPr>
          <a:xfrm>
            <a:off x="9098280" y="4199763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B2433"/>
                </a:solidFill>
                <a:latin typeface="微软雅黑"/>
                <a:ea typeface="微软雅黑"/>
                <a:cs typeface="微软雅黑"/>
              </a:rPr>
              <a:t>客户综合满意度</a:t>
            </a:r>
          </a:p>
        </p:txBody>
      </p:sp>
      <p:cxnSp>
        <p:nvCxnSpPr>
          <p:cNvPr id="25" name="xm Connector 24"/>
          <p:cNvCxnSpPr/>
          <p:nvPr/>
        </p:nvCxnSpPr>
        <p:spPr>
          <a:xfrm>
            <a:off x="8823960" y="3350133"/>
            <a:ext cx="0" cy="1611630"/>
          </a:xfrm>
          <a:prstGeom prst="line">
            <a:avLst/>
          </a:prstGeom>
          <a:ln w="9525">
            <a:solidFill>
              <a:srgbClr val="E0E2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C9A45C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思源宋体"/>
                <a:ea typeface="思源宋体"/>
              </a:rPr>
              <a:t>管理规模连续五个季度增长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457200"/>
            <a:ext cx="1463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RUIXIN CAPITAL</a:t>
            </a:r>
          </a:p>
        </p:txBody>
      </p:sp>
      <p:sp>
        <p:nvSpPr>
          <p:cNvPr id="6" name="xm TextBox 5"/>
          <p:cNvSpPr txBox="1"/>
          <p:nvPr/>
        </p:nvSpPr>
        <p:spPr>
          <a:xfrm>
            <a:off x="594360" y="5934456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2878F"/>
                </a:solidFill>
                <a:latin typeface="微软雅黑"/>
                <a:ea typeface="微软雅黑"/>
                <a:cs typeface="微软雅黑"/>
              </a:rPr>
              <a:t>示例数据 · 单位：亿元</a:t>
            </a:r>
          </a:p>
        </p:txBody>
      </p:sp>
      <p:graphicFrame>
        <p:nvGraphicFramePr>
          <p:cNvPr id="7" name="xm Chart 6"/>
          <p:cNvGraphicFramePr>
            <a:graphicFrameLocks noGrp="1"/>
          </p:cNvGraphicFramePr>
          <p:nvPr/>
        </p:nvGraphicFramePr>
        <p:xfrm>
          <a:off x="594360" y="1618488"/>
          <a:ext cx="7242048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xm Rectangle 7"/>
          <p:cNvSpPr/>
          <p:nvPr/>
        </p:nvSpPr>
        <p:spPr>
          <a:xfrm>
            <a:off x="8202168" y="1618488"/>
            <a:ext cx="3364992" cy="4206240"/>
          </a:xfrm>
          <a:prstGeom prst="rect">
            <a:avLst/>
          </a:prstGeom>
          <a:solidFill>
            <a:srgbClr val="E9E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xm TextBox 8"/>
          <p:cNvSpPr txBox="1"/>
          <p:nvPr/>
        </p:nvSpPr>
        <p:spPr>
          <a:xfrm>
            <a:off x="8522208" y="1938528"/>
            <a:ext cx="2724912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48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18.6</a:t>
            </a:r>
            <a:r>
              <a:rPr sz="18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 %</a:t>
            </a:r>
          </a:p>
        </p:txBody>
      </p:sp>
      <p:sp>
        <p:nvSpPr>
          <p:cNvPr id="10" name="xm TextBox 9"/>
          <p:cNvSpPr txBox="1"/>
          <p:nvPr/>
        </p:nvSpPr>
        <p:spPr>
          <a:xfrm>
            <a:off x="8522208" y="2898648"/>
            <a:ext cx="2724912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B2433"/>
                </a:solidFill>
                <a:latin typeface="微软雅黑"/>
                <a:ea typeface="微软雅黑"/>
                <a:cs typeface="微软雅黑"/>
              </a:rPr>
              <a:t>同比增长</a:t>
            </a:r>
          </a:p>
        </p:txBody>
      </p:sp>
      <p:sp>
        <p:nvSpPr>
          <p:cNvPr id="11" name="xm TextBox 10"/>
          <p:cNvSpPr txBox="1"/>
          <p:nvPr/>
        </p:nvSpPr>
        <p:spPr>
          <a:xfrm>
            <a:off x="8522208" y="3675888"/>
            <a:ext cx="2724912" cy="1828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44B58"/>
                </a:solidFill>
                <a:latin typeface="微软雅黑"/>
                <a:ea typeface="微软雅黑"/>
                <a:cs typeface="微软雅黑"/>
              </a:rPr>
              <a:t>连续五个季度环比增长，三季度单季净增 67 亿元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85216"/>
            <a:ext cx="237744" cy="237744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ogo"/>
          <p:cNvSpPr txBox="1"/>
          <p:nvPr/>
        </p:nvSpPr>
        <p:spPr>
          <a:xfrm>
            <a:off x="1042416" y="512063"/>
            <a:ext cx="23774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思源宋体"/>
                <a:ea typeface="思源宋体"/>
              </a:rPr>
              <a:t>睿信资本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91056"/>
            <a:ext cx="2743200" cy="17007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600" b="1">
                <a:solidFill>
                  <a:srgbClr val="C9A45C"/>
                </a:solidFill>
                <a:latin typeface="思源宋体"/>
                <a:ea typeface="思源宋体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429000"/>
            <a:ext cx="548640" cy="36576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1188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思源宋体"/>
                <a:ea typeface="思源宋体"/>
              </a:rPr>
              <a:t>产品与客户结构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C9A45C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思源宋体"/>
                <a:ea typeface="思源宋体"/>
              </a:rPr>
              <a:t>收入结构更均衡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457200"/>
            <a:ext cx="1463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RUIXIN CAPITAL</a:t>
            </a:r>
          </a:p>
        </p:txBody>
      </p:sp>
      <p:sp>
        <p:nvSpPr>
          <p:cNvPr id="6" name="xm TextBox 5"/>
          <p:cNvSpPr txBox="1"/>
          <p:nvPr/>
        </p:nvSpPr>
        <p:spPr>
          <a:xfrm>
            <a:off x="594360" y="5934456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2878F"/>
                </a:solidFill>
                <a:latin typeface="微软雅黑"/>
                <a:ea typeface="微软雅黑"/>
                <a:cs typeface="微软雅黑"/>
              </a:rPr>
              <a:t>示例数据</a:t>
            </a:r>
          </a:p>
        </p:txBody>
      </p:sp>
      <p:sp>
        <p:nvSpPr>
          <p:cNvPr id="7" name="xm TextBox 6"/>
          <p:cNvSpPr txBox="1"/>
          <p:nvPr/>
        </p:nvSpPr>
        <p:spPr>
          <a:xfrm>
            <a:off x="594360" y="161848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B2433"/>
                </a:solidFill>
                <a:latin typeface="微软雅黑"/>
                <a:ea typeface="微软雅黑"/>
                <a:cs typeface="微软雅黑"/>
              </a:rPr>
              <a:t>固收+ 产品贡献了一半以上的收入，权益类产品占比回升。</a:t>
            </a:r>
          </a:p>
        </p:txBody>
      </p:sp>
      <p:graphicFrame>
        <p:nvGraphicFramePr>
          <p:cNvPr id="8" name="xm Chart 7"/>
          <p:cNvGraphicFramePr>
            <a:graphicFrameLocks noGrp="1"/>
          </p:cNvGraphicFramePr>
          <p:nvPr/>
        </p:nvGraphicFramePr>
        <p:xfrm>
          <a:off x="2779776" y="2350008"/>
          <a:ext cx="6601968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C9A45C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思源宋体"/>
                <a:ea typeface="思源宋体"/>
              </a:rPr>
              <a:t>高净值客户成为增长主力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457200"/>
            <a:ext cx="1463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RUIXIN CAPITAL</a:t>
            </a:r>
          </a:p>
        </p:txBody>
      </p:sp>
      <p:sp>
        <p:nvSpPr>
          <p:cNvPr id="6" name="xm TextBox 5"/>
          <p:cNvSpPr txBox="1"/>
          <p:nvPr/>
        </p:nvSpPr>
        <p:spPr>
          <a:xfrm>
            <a:off x="594360" y="5934456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2878F"/>
                </a:solidFill>
                <a:latin typeface="微软雅黑"/>
                <a:ea typeface="微软雅黑"/>
                <a:cs typeface="微软雅黑"/>
              </a:rPr>
              <a:t>示例数据</a:t>
            </a:r>
          </a:p>
        </p:txBody>
      </p:sp>
      <p:sp>
        <p:nvSpPr>
          <p:cNvPr id="7" name="xm TextBox 6"/>
          <p:cNvSpPr txBox="1"/>
          <p:nvPr/>
        </p:nvSpPr>
        <p:spPr>
          <a:xfrm>
            <a:off x="594360" y="161848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B2433"/>
                </a:solidFill>
                <a:latin typeface="微软雅黑"/>
                <a:ea typeface="微软雅黑"/>
                <a:cs typeface="微软雅黑"/>
              </a:rPr>
              <a:t>高净值客户只占 4.5%，户均资产是大众客户的 30 倍</a:t>
            </a:r>
          </a:p>
        </p:txBody>
      </p:sp>
      <p:sp>
        <p:nvSpPr>
          <p:cNvPr id="8" name="xm TextBox 7"/>
          <p:cNvSpPr txBox="1"/>
          <p:nvPr/>
        </p:nvSpPr>
        <p:spPr>
          <a:xfrm>
            <a:off x="594360" y="2350008"/>
            <a:ext cx="52578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2433"/>
                </a:solidFill>
                <a:latin typeface="微软雅黑"/>
                <a:ea typeface="微软雅黑"/>
                <a:cs typeface="微软雅黑"/>
              </a:rPr>
              <a:t>客户数（户）</a:t>
            </a:r>
          </a:p>
        </p:txBody>
      </p:sp>
      <p:graphicFrame>
        <p:nvGraphicFramePr>
          <p:cNvPr id="9" name="xm Chart 8"/>
          <p:cNvGraphicFramePr>
            <a:graphicFrameLocks noGrp="1"/>
          </p:cNvGraphicFramePr>
          <p:nvPr/>
        </p:nvGraphicFramePr>
        <p:xfrm>
          <a:off x="594360" y="2852928"/>
          <a:ext cx="5257800" cy="2971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xm TextBox 9"/>
          <p:cNvSpPr txBox="1"/>
          <p:nvPr/>
        </p:nvSpPr>
        <p:spPr>
          <a:xfrm>
            <a:off x="6309360" y="2350008"/>
            <a:ext cx="52578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2433"/>
                </a:solidFill>
                <a:latin typeface="微软雅黑"/>
                <a:ea typeface="微软雅黑"/>
                <a:cs typeface="微软雅黑"/>
              </a:rPr>
              <a:t>户均资产（万元）</a:t>
            </a:r>
          </a:p>
        </p:txBody>
      </p:sp>
      <p:graphicFrame>
        <p:nvGraphicFramePr>
          <p:cNvPr id="11" name="xm Chart 10"/>
          <p:cNvGraphicFramePr>
            <a:graphicFrameLocks noGrp="1"/>
          </p:cNvGraphicFramePr>
          <p:nvPr/>
        </p:nvGraphicFramePr>
        <p:xfrm>
          <a:off x="6309360" y="2852928"/>
          <a:ext cx="5257800" cy="2971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85216"/>
            <a:ext cx="237744" cy="237744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ogo"/>
          <p:cNvSpPr txBox="1"/>
          <p:nvPr/>
        </p:nvSpPr>
        <p:spPr>
          <a:xfrm>
            <a:off x="1042416" y="512063"/>
            <a:ext cx="23774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思源宋体"/>
                <a:ea typeface="思源宋体"/>
              </a:rPr>
              <a:t>睿信资本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91056"/>
            <a:ext cx="2743200" cy="17007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600" b="1">
                <a:solidFill>
                  <a:srgbClr val="C9A45C"/>
                </a:solidFill>
                <a:latin typeface="思源宋体"/>
                <a:ea typeface="思源宋体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429000"/>
            <a:ext cx="548640" cy="36576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1188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思源宋体"/>
                <a:ea typeface="思源宋体"/>
              </a:rPr>
              <a:t>问题与挑战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C9A45C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思源宋体"/>
                <a:ea typeface="思源宋体"/>
              </a:rPr>
              <a:t>三个需要正视的问题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457200"/>
            <a:ext cx="1463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RUIXIN CAPITAL</a:t>
            </a:r>
          </a:p>
        </p:txBody>
      </p:sp>
      <p:sp>
        <p:nvSpPr>
          <p:cNvPr id="6" name="xm Rectangle 5"/>
          <p:cNvSpPr/>
          <p:nvPr/>
        </p:nvSpPr>
        <p:spPr>
          <a:xfrm>
            <a:off x="594360" y="2152040"/>
            <a:ext cx="3474720" cy="3504895"/>
          </a:xfrm>
          <a:prstGeom prst="rect">
            <a:avLst/>
          </a:prstGeom>
          <a:solidFill>
            <a:srgbClr val="F6F7F8"/>
          </a:solidFill>
          <a:ln w="9525">
            <a:solidFill>
              <a:srgbClr val="E0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xm Rectangle 6"/>
          <p:cNvSpPr/>
          <p:nvPr/>
        </p:nvSpPr>
        <p:spPr>
          <a:xfrm>
            <a:off x="594360" y="2152040"/>
            <a:ext cx="3474720" cy="640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xm Oval 7"/>
          <p:cNvSpPr/>
          <p:nvPr/>
        </p:nvSpPr>
        <p:spPr>
          <a:xfrm>
            <a:off x="978408" y="2536088"/>
            <a:ext cx="793699" cy="793699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xm Picture 8" descr="coins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896" y="2726576"/>
            <a:ext cx="412724" cy="412724"/>
          </a:xfrm>
          <a:prstGeom prst="rect">
            <a:avLst/>
          </a:prstGeom>
        </p:spPr>
      </p:pic>
      <p:sp>
        <p:nvSpPr>
          <p:cNvPr id="10" name="xm TextBox 9"/>
          <p:cNvSpPr txBox="1"/>
          <p:nvPr/>
        </p:nvSpPr>
        <p:spPr>
          <a:xfrm>
            <a:off x="978408" y="3512668"/>
            <a:ext cx="2706624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B2433"/>
                </a:solidFill>
                <a:latin typeface="微软雅黑"/>
                <a:ea typeface="微软雅黑"/>
                <a:cs typeface="微软雅黑"/>
              </a:rPr>
              <a:t>获客成本上升</a:t>
            </a:r>
          </a:p>
        </p:txBody>
      </p:sp>
      <p:sp>
        <p:nvSpPr>
          <p:cNvPr id="11" name="xm TextBox 10"/>
          <p:cNvSpPr txBox="1"/>
          <p:nvPr/>
        </p:nvSpPr>
        <p:spPr>
          <a:xfrm>
            <a:off x="978408" y="4061308"/>
            <a:ext cx="2706624" cy="13267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444B58"/>
                </a:solidFill>
                <a:latin typeface="微软雅黑"/>
                <a:ea typeface="微软雅黑"/>
                <a:cs typeface="微软雅黑"/>
              </a:rPr>
              <a:t>单户获客成本同比上涨 22%，线上渠道转化率下滑</a:t>
            </a:r>
          </a:p>
        </p:txBody>
      </p:sp>
      <p:sp>
        <p:nvSpPr>
          <p:cNvPr id="12" name="xm Rectangle 11"/>
          <p:cNvSpPr/>
          <p:nvPr/>
        </p:nvSpPr>
        <p:spPr>
          <a:xfrm>
            <a:off x="4343400" y="2152040"/>
            <a:ext cx="3474720" cy="3504895"/>
          </a:xfrm>
          <a:prstGeom prst="rect">
            <a:avLst/>
          </a:prstGeom>
          <a:solidFill>
            <a:srgbClr val="F6F7F8"/>
          </a:solidFill>
          <a:ln w="9525">
            <a:solidFill>
              <a:srgbClr val="E0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xm Rectangle 12"/>
          <p:cNvSpPr/>
          <p:nvPr/>
        </p:nvSpPr>
        <p:spPr>
          <a:xfrm>
            <a:off x="4343400" y="2152040"/>
            <a:ext cx="3474720" cy="640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xm Oval 13"/>
          <p:cNvSpPr/>
          <p:nvPr/>
        </p:nvSpPr>
        <p:spPr>
          <a:xfrm>
            <a:off x="4727448" y="2536088"/>
            <a:ext cx="793699" cy="793699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xm Picture 14" descr="coins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7936" y="2726576"/>
            <a:ext cx="412724" cy="412724"/>
          </a:xfrm>
          <a:prstGeom prst="rect">
            <a:avLst/>
          </a:prstGeom>
        </p:spPr>
      </p:pic>
      <p:sp>
        <p:nvSpPr>
          <p:cNvPr id="16" name="xm TextBox 15"/>
          <p:cNvSpPr txBox="1"/>
          <p:nvPr/>
        </p:nvSpPr>
        <p:spPr>
          <a:xfrm>
            <a:off x="4727448" y="3512668"/>
            <a:ext cx="2706624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B2433"/>
                </a:solidFill>
                <a:latin typeface="微软雅黑"/>
                <a:ea typeface="微软雅黑"/>
                <a:cs typeface="微软雅黑"/>
              </a:rPr>
              <a:t>产品同质化</a:t>
            </a:r>
          </a:p>
        </p:txBody>
      </p:sp>
      <p:sp>
        <p:nvSpPr>
          <p:cNvPr id="17" name="xm TextBox 16"/>
          <p:cNvSpPr txBox="1"/>
          <p:nvPr/>
        </p:nvSpPr>
        <p:spPr>
          <a:xfrm>
            <a:off x="4727448" y="4061308"/>
            <a:ext cx="2706624" cy="13267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444B58"/>
                </a:solidFill>
                <a:latin typeface="微软雅黑"/>
                <a:ea typeface="微软雅黑"/>
                <a:cs typeface="微软雅黑"/>
              </a:rPr>
              <a:t>固收+ 产品与同业差异不大，价格竞争加剧</a:t>
            </a:r>
          </a:p>
        </p:txBody>
      </p:sp>
      <p:sp>
        <p:nvSpPr>
          <p:cNvPr id="18" name="xm Rectangle 17"/>
          <p:cNvSpPr/>
          <p:nvPr/>
        </p:nvSpPr>
        <p:spPr>
          <a:xfrm>
            <a:off x="8092440" y="2152040"/>
            <a:ext cx="3474720" cy="3504895"/>
          </a:xfrm>
          <a:prstGeom prst="rect">
            <a:avLst/>
          </a:prstGeom>
          <a:solidFill>
            <a:srgbClr val="F6F7F8"/>
          </a:solidFill>
          <a:ln w="9525">
            <a:solidFill>
              <a:srgbClr val="E0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xm Rectangle 18"/>
          <p:cNvSpPr/>
          <p:nvPr/>
        </p:nvSpPr>
        <p:spPr>
          <a:xfrm>
            <a:off x="8092440" y="2152040"/>
            <a:ext cx="3474720" cy="640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xm Oval 19"/>
          <p:cNvSpPr/>
          <p:nvPr/>
        </p:nvSpPr>
        <p:spPr>
          <a:xfrm>
            <a:off x="8476488" y="2536088"/>
            <a:ext cx="793699" cy="793699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xm Picture 20" descr="users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6976" y="2726576"/>
            <a:ext cx="412724" cy="412724"/>
          </a:xfrm>
          <a:prstGeom prst="rect">
            <a:avLst/>
          </a:prstGeom>
        </p:spPr>
      </p:pic>
      <p:sp>
        <p:nvSpPr>
          <p:cNvPr id="22" name="xm TextBox 21"/>
          <p:cNvSpPr txBox="1"/>
          <p:nvPr/>
        </p:nvSpPr>
        <p:spPr>
          <a:xfrm>
            <a:off x="8476488" y="3512668"/>
            <a:ext cx="2706624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B2433"/>
                </a:solidFill>
                <a:latin typeface="微软雅黑"/>
                <a:ea typeface="微软雅黑"/>
                <a:cs typeface="微软雅黑"/>
              </a:rPr>
              <a:t>投顾产能不足</a:t>
            </a:r>
          </a:p>
        </p:txBody>
      </p:sp>
      <p:sp>
        <p:nvSpPr>
          <p:cNvPr id="23" name="xm TextBox 22"/>
          <p:cNvSpPr txBox="1"/>
          <p:nvPr/>
        </p:nvSpPr>
        <p:spPr>
          <a:xfrm>
            <a:off x="8476488" y="4061308"/>
            <a:ext cx="2706624" cy="13267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444B58"/>
                </a:solidFill>
                <a:latin typeface="微软雅黑"/>
                <a:ea typeface="微软雅黑"/>
                <a:cs typeface="微软雅黑"/>
              </a:rPr>
              <a:t>人均服务客户 310 户，高于行业均值 1.4 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C9A45C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思源宋体"/>
                <a:ea typeface="思源宋体"/>
              </a:rPr>
              <a:t>从「卖产品」到「做配置」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457200"/>
            <a:ext cx="1463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RUIXIN CAPITAL</a:t>
            </a:r>
          </a:p>
        </p:txBody>
      </p:sp>
      <p:sp>
        <p:nvSpPr>
          <p:cNvPr id="6" name="xm Rectangle 5"/>
          <p:cNvSpPr/>
          <p:nvPr/>
        </p:nvSpPr>
        <p:spPr>
          <a:xfrm>
            <a:off x="594360" y="1915582"/>
            <a:ext cx="5074920" cy="2880533"/>
          </a:xfrm>
          <a:prstGeom prst="rect">
            <a:avLst/>
          </a:prstGeom>
          <a:solidFill>
            <a:srgbClr val="F6F7F8"/>
          </a:solidFill>
          <a:ln w="9525">
            <a:solidFill>
              <a:srgbClr val="E0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xm Rectangle 6"/>
          <p:cNvSpPr/>
          <p:nvPr/>
        </p:nvSpPr>
        <p:spPr>
          <a:xfrm>
            <a:off x="594360" y="1915582"/>
            <a:ext cx="5074920" cy="770073"/>
          </a:xfrm>
          <a:prstGeom prst="rect">
            <a:avLst/>
          </a:prstGeom>
          <a:solidFill>
            <a:srgbClr val="E3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/>
            <a:r>
              <a:rPr sz="2100" b="1">
                <a:solidFill>
                  <a:srgbClr val="1B2433"/>
                </a:solidFill>
                <a:latin typeface="微软雅黑"/>
                <a:ea typeface="微软雅黑"/>
                <a:cs typeface="微软雅黑"/>
              </a:rPr>
              <a:t>过去</a:t>
            </a:r>
          </a:p>
        </p:txBody>
      </p:sp>
      <p:pic>
        <p:nvPicPr>
          <p:cNvPr id="8" name="xm Picture 7" descr="circle-x-0B1F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923399"/>
            <a:ext cx="327281" cy="327281"/>
          </a:xfrm>
          <a:prstGeom prst="rect">
            <a:avLst/>
          </a:prstGeom>
        </p:spPr>
      </p:pic>
      <p:sp>
        <p:nvSpPr>
          <p:cNvPr id="9" name="xm TextBox 8"/>
          <p:cNvSpPr txBox="1"/>
          <p:nvPr/>
        </p:nvSpPr>
        <p:spPr>
          <a:xfrm>
            <a:off x="1333121" y="2868535"/>
            <a:ext cx="4061839" cy="5510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82878F"/>
                </a:solidFill>
                <a:latin typeface="微软雅黑"/>
                <a:ea typeface="微软雅黑"/>
                <a:cs typeface="微软雅黑"/>
              </a:rPr>
              <a:t>以产品销售为中心，按单计提</a:t>
            </a:r>
          </a:p>
        </p:txBody>
      </p:sp>
      <p:pic>
        <p:nvPicPr>
          <p:cNvPr id="10" name="xm Picture 9" descr="circle-x-0B1F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520205"/>
            <a:ext cx="327281" cy="327281"/>
          </a:xfrm>
          <a:prstGeom prst="rect">
            <a:avLst/>
          </a:prstGeom>
        </p:spPr>
      </p:pic>
      <p:sp>
        <p:nvSpPr>
          <p:cNvPr id="11" name="xm TextBox 10"/>
          <p:cNvSpPr txBox="1"/>
          <p:nvPr/>
        </p:nvSpPr>
        <p:spPr>
          <a:xfrm>
            <a:off x="1333121" y="3465341"/>
            <a:ext cx="4061839" cy="5510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82878F"/>
                </a:solidFill>
                <a:latin typeface="微软雅黑"/>
                <a:ea typeface="微软雅黑"/>
                <a:cs typeface="微软雅黑"/>
              </a:rPr>
              <a:t>客户经理单打独斗</a:t>
            </a:r>
          </a:p>
        </p:txBody>
      </p:sp>
      <p:pic>
        <p:nvPicPr>
          <p:cNvPr id="12" name="xm Picture 11" descr="circle-x-0B1F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117012"/>
            <a:ext cx="327281" cy="327281"/>
          </a:xfrm>
          <a:prstGeom prst="rect">
            <a:avLst/>
          </a:prstGeom>
        </p:spPr>
      </p:pic>
      <p:sp>
        <p:nvSpPr>
          <p:cNvPr id="13" name="xm TextBox 12"/>
          <p:cNvSpPr txBox="1"/>
          <p:nvPr/>
        </p:nvSpPr>
        <p:spPr>
          <a:xfrm>
            <a:off x="1333121" y="4062148"/>
            <a:ext cx="4061839" cy="5510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82878F"/>
                </a:solidFill>
                <a:latin typeface="微软雅黑"/>
                <a:ea typeface="微软雅黑"/>
                <a:cs typeface="微软雅黑"/>
              </a:rPr>
              <a:t>季度末集中冲量</a:t>
            </a:r>
          </a:p>
        </p:txBody>
      </p:sp>
      <p:sp>
        <p:nvSpPr>
          <p:cNvPr id="14" name="xm Rectangle 13"/>
          <p:cNvSpPr/>
          <p:nvPr/>
        </p:nvSpPr>
        <p:spPr>
          <a:xfrm>
            <a:off x="6492240" y="1915582"/>
            <a:ext cx="5074920" cy="2880533"/>
          </a:xfrm>
          <a:prstGeom prst="rect">
            <a:avLst/>
          </a:prstGeom>
          <a:solidFill>
            <a:srgbClr val="F6F7F8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xm Rectangle 14"/>
          <p:cNvSpPr/>
          <p:nvPr/>
        </p:nvSpPr>
        <p:spPr>
          <a:xfrm>
            <a:off x="6492240" y="1915582"/>
            <a:ext cx="5074920" cy="770073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/>
            <a:r>
              <a: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</a:t>
            </a:r>
          </a:p>
        </p:txBody>
      </p:sp>
      <p:pic>
        <p:nvPicPr>
          <p:cNvPr id="16" name="xm Picture 15" descr="circle-check-0B1F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2923399"/>
            <a:ext cx="327281" cy="327281"/>
          </a:xfrm>
          <a:prstGeom prst="rect">
            <a:avLst/>
          </a:prstGeom>
        </p:spPr>
      </p:pic>
      <p:sp>
        <p:nvSpPr>
          <p:cNvPr id="17" name="xm TextBox 16"/>
          <p:cNvSpPr txBox="1"/>
          <p:nvPr/>
        </p:nvSpPr>
        <p:spPr>
          <a:xfrm>
            <a:off x="7231001" y="2868535"/>
            <a:ext cx="4061839" cy="5510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B2433"/>
                </a:solidFill>
                <a:latin typeface="微软雅黑"/>
                <a:ea typeface="微软雅黑"/>
                <a:cs typeface="微软雅黑"/>
              </a:rPr>
              <a:t>以客户资产配置为中心，按保有量考核</a:t>
            </a:r>
          </a:p>
        </p:txBody>
      </p:sp>
      <p:pic>
        <p:nvPicPr>
          <p:cNvPr id="18" name="xm Picture 17" descr="circle-check-0B1F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3520205"/>
            <a:ext cx="327281" cy="327281"/>
          </a:xfrm>
          <a:prstGeom prst="rect">
            <a:avLst/>
          </a:prstGeom>
        </p:spPr>
      </p:pic>
      <p:sp>
        <p:nvSpPr>
          <p:cNvPr id="19" name="xm TextBox 18"/>
          <p:cNvSpPr txBox="1"/>
          <p:nvPr/>
        </p:nvSpPr>
        <p:spPr>
          <a:xfrm>
            <a:off x="7231001" y="3465341"/>
            <a:ext cx="4061839" cy="5510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B2433"/>
                </a:solidFill>
                <a:latin typeface="微软雅黑"/>
                <a:ea typeface="微软雅黑"/>
                <a:cs typeface="微软雅黑"/>
              </a:rPr>
              <a:t>投顾 + 客户经理 + 数字助手协同</a:t>
            </a:r>
          </a:p>
        </p:txBody>
      </p:sp>
      <p:pic>
        <p:nvPicPr>
          <p:cNvPr id="20" name="xm Picture 19" descr="circle-check-0B1F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4117012"/>
            <a:ext cx="327281" cy="327281"/>
          </a:xfrm>
          <a:prstGeom prst="rect">
            <a:avLst/>
          </a:prstGeom>
        </p:spPr>
      </p:pic>
      <p:sp>
        <p:nvSpPr>
          <p:cNvPr id="21" name="xm TextBox 20"/>
          <p:cNvSpPr txBox="1"/>
          <p:nvPr/>
        </p:nvSpPr>
        <p:spPr>
          <a:xfrm>
            <a:off x="7231001" y="4062148"/>
            <a:ext cx="4061839" cy="5510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B2433"/>
                </a:solidFill>
                <a:latin typeface="微软雅黑"/>
                <a:ea typeface="微软雅黑"/>
                <a:cs typeface="微软雅黑"/>
              </a:rPr>
              <a:t>全年均衡经营，按月复盘</a:t>
            </a:r>
          </a:p>
        </p:txBody>
      </p:sp>
      <p:sp>
        <p:nvSpPr>
          <p:cNvPr id="22" name="xm Oval 21"/>
          <p:cNvSpPr/>
          <p:nvPr/>
        </p:nvSpPr>
        <p:spPr>
          <a:xfrm>
            <a:off x="5733288" y="3008376"/>
            <a:ext cx="694944" cy="694944"/>
          </a:xfrm>
          <a:prstGeom prst="ellipse">
            <a:avLst/>
          </a:prstGeom>
          <a:solidFill>
            <a:srgbClr val="1B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EFEFE"/>
                </a:solidFill>
                <a:latin typeface="微软雅黑"/>
                <a:ea typeface="微软雅黑"/>
                <a:cs typeface="微软雅黑"/>
              </a:rPr>
              <a:t>VS</a:t>
            </a:r>
          </a:p>
        </p:txBody>
      </p:sp>
      <p:sp>
        <p:nvSpPr>
          <p:cNvPr id="23" name="xm Rectangle 22"/>
          <p:cNvSpPr/>
          <p:nvPr/>
        </p:nvSpPr>
        <p:spPr>
          <a:xfrm>
            <a:off x="594360" y="5116154"/>
            <a:ext cx="10972800" cy="777240"/>
          </a:xfrm>
          <a:prstGeom prst="rect">
            <a:avLst/>
          </a:prstGeom>
          <a:gradFill rotWithShape="1">
            <a:gsLst>
              <a:gs pos="0">
                <a:srgbClr val="0B1F3A"/>
              </a:gs>
              <a:gs pos="100000">
                <a:srgbClr val="C9A45C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/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转型的核心是考核方式变了。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85216"/>
            <a:ext cx="237744" cy="237744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ogo"/>
          <p:cNvSpPr txBox="1"/>
          <p:nvPr/>
        </p:nvSpPr>
        <p:spPr>
          <a:xfrm>
            <a:off x="1042416" y="512063"/>
            <a:ext cx="23774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思源宋体"/>
                <a:ea typeface="思源宋体"/>
              </a:rPr>
              <a:t>睿信资本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91056"/>
            <a:ext cx="2743200" cy="17007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600" b="1">
                <a:solidFill>
                  <a:srgbClr val="C9A45C"/>
                </a:solidFill>
                <a:latin typeface="思源宋体"/>
                <a:ea typeface="思源宋体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429000"/>
            <a:ext cx="548640" cy="36576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1188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思源宋体"/>
                <a:ea typeface="思源宋体"/>
              </a:rPr>
              <a:t>四季度行动计划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C9A45C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思源宋体"/>
                <a:ea typeface="思源宋体"/>
              </a:rPr>
              <a:t>四步推进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457200"/>
            <a:ext cx="1463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RUIXIN CAPITAL</a:t>
            </a:r>
          </a:p>
        </p:txBody>
      </p:sp>
      <p:cxnSp>
        <p:nvCxnSpPr>
          <p:cNvPr id="6" name="xm Connector 5"/>
          <p:cNvCxnSpPr/>
          <p:nvPr/>
        </p:nvCxnSpPr>
        <p:spPr>
          <a:xfrm>
            <a:off x="1863090" y="2418131"/>
            <a:ext cx="8435340" cy="0"/>
          </a:xfrm>
          <a:prstGeom prst="line">
            <a:avLst/>
          </a:prstGeom>
          <a:ln w="38100">
            <a:solidFill>
              <a:srgbClr val="9DA5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xm Oval 6"/>
          <p:cNvSpPr/>
          <p:nvPr/>
        </p:nvSpPr>
        <p:spPr>
          <a:xfrm>
            <a:off x="1415034" y="1970075"/>
            <a:ext cx="896112" cy="896112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xm Rectangle 7"/>
          <p:cNvSpPr/>
          <p:nvPr/>
        </p:nvSpPr>
        <p:spPr>
          <a:xfrm>
            <a:off x="594360" y="3186227"/>
            <a:ext cx="2537460" cy="2652674"/>
          </a:xfrm>
          <a:prstGeom prst="rect">
            <a:avLst/>
          </a:prstGeom>
          <a:solidFill>
            <a:srgbClr val="F6F7F8"/>
          </a:solidFill>
          <a:ln w="9525">
            <a:solidFill>
              <a:srgbClr val="E0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xm TextBox 8"/>
          <p:cNvSpPr txBox="1"/>
          <p:nvPr/>
        </p:nvSpPr>
        <p:spPr>
          <a:xfrm>
            <a:off x="875995" y="3467862"/>
            <a:ext cx="1974190" cy="8138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2300" b="1">
                <a:solidFill>
                  <a:srgbClr val="1B2433"/>
                </a:solidFill>
                <a:latin typeface="微软雅黑"/>
                <a:ea typeface="微软雅黑"/>
                <a:cs typeface="微软雅黑"/>
              </a:rPr>
              <a:t>客群分层经营</a:t>
            </a:r>
          </a:p>
        </p:txBody>
      </p:sp>
      <p:sp>
        <p:nvSpPr>
          <p:cNvPr id="10" name="xm TextBox 9"/>
          <p:cNvSpPr txBox="1"/>
          <p:nvPr/>
        </p:nvSpPr>
        <p:spPr>
          <a:xfrm>
            <a:off x="875995" y="4345686"/>
            <a:ext cx="1974190" cy="12298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444B58"/>
                </a:solidFill>
                <a:latin typeface="微软雅黑"/>
                <a:ea typeface="微软雅黑"/>
                <a:cs typeface="微软雅黑"/>
              </a:rPr>
              <a:t>按资产和风险偏好重新划分 12 个客群</a:t>
            </a:r>
          </a:p>
        </p:txBody>
      </p:sp>
      <p:sp>
        <p:nvSpPr>
          <p:cNvPr id="11" name="xm Oval 10"/>
          <p:cNvSpPr/>
          <p:nvPr/>
        </p:nvSpPr>
        <p:spPr>
          <a:xfrm>
            <a:off x="4226814" y="1970075"/>
            <a:ext cx="896112" cy="896112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xm Rectangle 11"/>
          <p:cNvSpPr/>
          <p:nvPr/>
        </p:nvSpPr>
        <p:spPr>
          <a:xfrm>
            <a:off x="3406140" y="3186227"/>
            <a:ext cx="2537460" cy="2652674"/>
          </a:xfrm>
          <a:prstGeom prst="rect">
            <a:avLst/>
          </a:prstGeom>
          <a:solidFill>
            <a:srgbClr val="F6F7F8"/>
          </a:solidFill>
          <a:ln w="9525">
            <a:solidFill>
              <a:srgbClr val="E0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xm TextBox 12"/>
          <p:cNvSpPr txBox="1"/>
          <p:nvPr/>
        </p:nvSpPr>
        <p:spPr>
          <a:xfrm>
            <a:off x="3687775" y="3467862"/>
            <a:ext cx="1974190" cy="8138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2300" b="1">
                <a:solidFill>
                  <a:srgbClr val="1B2433"/>
                </a:solidFill>
                <a:latin typeface="微软雅黑"/>
                <a:ea typeface="微软雅黑"/>
                <a:cs typeface="微软雅黑"/>
              </a:rPr>
              <a:t>投顾团队扩编</a:t>
            </a:r>
          </a:p>
        </p:txBody>
      </p:sp>
      <p:sp>
        <p:nvSpPr>
          <p:cNvPr id="14" name="xm TextBox 13"/>
          <p:cNvSpPr txBox="1"/>
          <p:nvPr/>
        </p:nvSpPr>
        <p:spPr>
          <a:xfrm>
            <a:off x="3687775" y="4345686"/>
            <a:ext cx="1974190" cy="12298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444B58"/>
                </a:solidFill>
                <a:latin typeface="微软雅黑"/>
                <a:ea typeface="微软雅黑"/>
                <a:cs typeface="微软雅黑"/>
              </a:rPr>
              <a:t>新增 40 名持证投顾，覆盖高净值客户</a:t>
            </a:r>
          </a:p>
        </p:txBody>
      </p:sp>
      <p:sp>
        <p:nvSpPr>
          <p:cNvPr id="15" name="xm Oval 14"/>
          <p:cNvSpPr/>
          <p:nvPr/>
        </p:nvSpPr>
        <p:spPr>
          <a:xfrm>
            <a:off x="7038594" y="1970075"/>
            <a:ext cx="896112" cy="896112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xm Rectangle 15"/>
          <p:cNvSpPr/>
          <p:nvPr/>
        </p:nvSpPr>
        <p:spPr>
          <a:xfrm>
            <a:off x="6217920" y="3186227"/>
            <a:ext cx="2537460" cy="2652674"/>
          </a:xfrm>
          <a:prstGeom prst="rect">
            <a:avLst/>
          </a:prstGeom>
          <a:solidFill>
            <a:srgbClr val="F6F7F8"/>
          </a:solidFill>
          <a:ln w="9525">
            <a:solidFill>
              <a:srgbClr val="E0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xm TextBox 16"/>
          <p:cNvSpPr txBox="1"/>
          <p:nvPr/>
        </p:nvSpPr>
        <p:spPr>
          <a:xfrm>
            <a:off x="6499555" y="3467862"/>
            <a:ext cx="1974190" cy="8138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2300" b="1">
                <a:solidFill>
                  <a:srgbClr val="1B2433"/>
                </a:solidFill>
                <a:latin typeface="微软雅黑"/>
                <a:ea typeface="微软雅黑"/>
                <a:cs typeface="微软雅黑"/>
              </a:rPr>
              <a:t>数字助手上线</a:t>
            </a:r>
          </a:p>
        </p:txBody>
      </p:sp>
      <p:sp>
        <p:nvSpPr>
          <p:cNvPr id="18" name="xm TextBox 17"/>
          <p:cNvSpPr txBox="1"/>
          <p:nvPr/>
        </p:nvSpPr>
        <p:spPr>
          <a:xfrm>
            <a:off x="6499555" y="4345686"/>
            <a:ext cx="1974190" cy="12298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444B58"/>
                </a:solidFill>
                <a:latin typeface="微软雅黑"/>
                <a:ea typeface="微软雅黑"/>
                <a:cs typeface="微软雅黑"/>
              </a:rPr>
              <a:t>客户经理工作台接入智能配置建议</a:t>
            </a:r>
          </a:p>
        </p:txBody>
      </p:sp>
      <p:sp>
        <p:nvSpPr>
          <p:cNvPr id="19" name="xm Oval 18"/>
          <p:cNvSpPr/>
          <p:nvPr/>
        </p:nvSpPr>
        <p:spPr>
          <a:xfrm>
            <a:off x="9850374" y="1970075"/>
            <a:ext cx="896112" cy="896112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xm Rectangle 19"/>
          <p:cNvSpPr/>
          <p:nvPr/>
        </p:nvSpPr>
        <p:spPr>
          <a:xfrm>
            <a:off x="9029700" y="3186227"/>
            <a:ext cx="2537460" cy="2652674"/>
          </a:xfrm>
          <a:prstGeom prst="rect">
            <a:avLst/>
          </a:prstGeom>
          <a:solidFill>
            <a:srgbClr val="F6F7F8"/>
          </a:solidFill>
          <a:ln w="9525">
            <a:solidFill>
              <a:srgbClr val="E0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xm TextBox 20"/>
          <p:cNvSpPr txBox="1"/>
          <p:nvPr/>
        </p:nvSpPr>
        <p:spPr>
          <a:xfrm>
            <a:off x="9311335" y="3467862"/>
            <a:ext cx="1974190" cy="8138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2500" b="1">
                <a:solidFill>
                  <a:srgbClr val="1B2433"/>
                </a:solidFill>
                <a:latin typeface="微软雅黑"/>
                <a:ea typeface="微软雅黑"/>
                <a:cs typeface="微软雅黑"/>
              </a:rPr>
              <a:t>年终配置季</a:t>
            </a:r>
          </a:p>
        </p:txBody>
      </p:sp>
      <p:sp>
        <p:nvSpPr>
          <p:cNvPr id="22" name="xm TextBox 21"/>
          <p:cNvSpPr txBox="1"/>
          <p:nvPr/>
        </p:nvSpPr>
        <p:spPr>
          <a:xfrm>
            <a:off x="9311335" y="4345686"/>
            <a:ext cx="1974190" cy="12298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444B58"/>
                </a:solidFill>
                <a:latin typeface="微软雅黑"/>
                <a:ea typeface="微软雅黑"/>
                <a:cs typeface="微软雅黑"/>
              </a:rPr>
              <a:t>11–12 月开展全辖年终资产检视活动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C9A45C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思源宋体"/>
                <a:ea typeface="思源宋体"/>
              </a:rPr>
              <a:t>四季度行动计划</a:t>
            </a:r>
          </a:p>
        </p:txBody>
      </p:sp>
      <p:sp>
        <p:nvSpPr>
          <p:cNvPr id="4" name="xm TextBox 3"/>
          <p:cNvSpPr txBox="1"/>
          <p:nvPr/>
        </p:nvSpPr>
        <p:spPr>
          <a:xfrm>
            <a:off x="594360" y="2624328"/>
            <a:ext cx="109728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8000" b="1">
                <a:solidFill>
                  <a:srgbClr val="C9A45C"/>
                </a:solidFill>
                <a:latin typeface="思源宋体"/>
                <a:ea typeface="思源宋体"/>
                <a:cs typeface="思源宋体"/>
              </a:rPr>
              <a:t>“</a:t>
            </a:r>
          </a:p>
        </p:txBody>
      </p:sp>
      <p:sp>
        <p:nvSpPr>
          <p:cNvPr id="5" name="xm TextBox 4"/>
          <p:cNvSpPr txBox="1"/>
          <p:nvPr/>
        </p:nvSpPr>
        <p:spPr>
          <a:xfrm>
            <a:off x="777240" y="3675888"/>
            <a:ext cx="8046720" cy="1097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思源宋体"/>
                <a:ea typeface="思源宋体"/>
                <a:cs typeface="思源宋体"/>
              </a:rPr>
              <a:t>财富管理的本质，是陪客户穿越周期。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85216"/>
            <a:ext cx="237744" cy="237744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ogo"/>
          <p:cNvSpPr txBox="1"/>
          <p:nvPr/>
        </p:nvSpPr>
        <p:spPr>
          <a:xfrm>
            <a:off x="1042416" y="512063"/>
            <a:ext cx="23774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思源宋体"/>
                <a:ea typeface="思源宋体"/>
              </a:rPr>
              <a:t>睿信资本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315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思源宋体"/>
                <a:ea typeface="思源宋体"/>
              </a:rP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7315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C9A45C"/>
                </a:solidFill>
                <a:latin typeface="微软雅黑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EB8CA"/>
                </a:solidFill>
                <a:latin typeface="微软雅黑"/>
                <a:ea typeface="微软雅黑"/>
              </a:rPr>
              <a:t>睿信资本 · 让每一份资产都被认真对待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